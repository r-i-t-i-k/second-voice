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3" r:id="rId13"/>
    <p:sldId id="264" r:id="rId14"/>
    <p:sldId id="265" r:id="rId15"/>
    <p:sldId id="266" r:id="rId16"/>
    <p:sldId id="267" r:id="rId17"/>
    <p:sldId id="268" r:id="rId18"/>
    <p:sldId id="269" r:id="rId19"/>
    <p:sldId id="271" r:id="rId2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1"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name: Second Voice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Team leader name: Ritik Singh</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800">
                <a:latin typeface="Google Sans Flex"/>
                <a:ea typeface="Google Sans Flex"/>
                <a:cs typeface="Google Sans Flex"/>
                <a:sym typeface="Google Sans Flex"/>
              </a:rPr>
              <a:t>Problem Statement: BFSI. AI to detect and stop fraud that bypasses today's controls: authorised push payment (coercion) scams on UPI, such as digital arrest.</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320040" y="1325880"/>
            <a:ext cx="4846320" cy="548640"/>
          </a:xfrm>
          <a:prstGeom prst="rect">
            <a:avLst/>
          </a:prstGeom>
          <a:noFill/>
        </p:spPr>
        <p:txBody>
          <a:bodyPr wrap="square" anchor="t" lIns="45720" rIns="45720">
            <a:spAutoFit/>
          </a:bodyPr>
          <a:lstStyle/>
          <a:p>
            <a:pPr algn="l">
              <a:spcAft>
                <a:spcPts val="400"/>
              </a:spcAft>
            </a:pPr>
            <a:r>
              <a:rPr sz="2200" b="1" i="0">
                <a:solidFill>
                  <a:srgbClr val="16202B"/>
                </a:solidFill>
                <a:latin typeface="Arial"/>
              </a:rPr>
              <a:t>Second Voice</a:t>
            </a:r>
            <a:r>
              <a:rPr sz="1400" b="0" i="0">
                <a:solidFill>
                  <a:srgbClr val="5B6774"/>
                </a:solidFill>
                <a:latin typeface="Arial"/>
              </a:rPr>
              <a:t>  is a coercion-aware payment interruptor for UPI.</a:t>
            </a:r>
          </a:p>
        </p:txBody>
      </p:sp>
      <p:sp>
        <p:nvSpPr>
          <p:cNvPr id="73" name="TextBox 72"/>
          <p:cNvSpPr txBox="1"/>
          <p:nvPr/>
        </p:nvSpPr>
        <p:spPr>
          <a:xfrm>
            <a:off x="320040" y="2011680"/>
            <a:ext cx="4846320" cy="2926080"/>
          </a:xfrm>
          <a:prstGeom prst="rect">
            <a:avLst/>
          </a:prstGeom>
          <a:noFill/>
        </p:spPr>
        <p:txBody>
          <a:bodyPr wrap="square" anchor="t" lIns="45720" rIns="45720">
            <a:spAutoFit/>
          </a:bodyPr>
          <a:lstStyle/>
          <a:p>
            <a:pPr algn="l">
              <a:spcAft>
                <a:spcPts val="700"/>
              </a:spcAft>
            </a:pPr>
            <a:r>
              <a:rPr sz="1150" b="0" i="0">
                <a:solidFill>
                  <a:srgbClr val="16202B"/>
                </a:solidFill>
                <a:latin typeface="Arial"/>
              </a:rPr>
              <a:t>Every bank fraud system asks one question: is this really the account holder? In digital arrest, parcel and investment scams the answer is yes. The victim is on her own phone, typing her own PIN, because a caller posing as a CBI officer told her to. Device, location and credential checks see nothing.</a:t>
            </a:r>
          </a:p>
          <a:p>
            <a:pPr algn="l">
              <a:spcAft>
                <a:spcPts val="700"/>
              </a:spcAft>
            </a:pPr>
            <a:r>
              <a:rPr sz="1150" b="0" i="0">
                <a:solidFill>
                  <a:srgbClr val="16202B"/>
                </a:solidFill>
                <a:latin typeface="Arial"/>
              </a:rPr>
              <a:t>Second Voice sits in the payer bank's authorisation hook, before the debit. It scores whether the account holder is being manipulated right now, from eight signals around the moment of payment, and answers with a Gemini-driven conversation built from the suspected scam script, not a warning banner.</a:t>
            </a:r>
          </a:p>
          <a:p>
            <a:pPr algn="l">
              <a:spcAft>
                <a:spcPts val="700"/>
              </a:spcAft>
            </a:pPr>
            <a:r>
              <a:rPr sz="1150" b="0" i="0">
                <a:solidFill>
                  <a:srgbClr val="16202B"/>
                </a:solidFill>
                <a:latin typeface="Arial"/>
              </a:rPr>
              <a:t>The receiving bank runs the same service on its own accounts and shares one word back during address validation: a receiver risk band. If the customer overrides anyway, the receiving bank holds the credit before it can be cashed out.</a:t>
            </a:r>
          </a:p>
        </p:txBody>
      </p:sp>
      <p:sp>
        <p:nvSpPr>
          <p:cNvPr id="74" name="Rounded Rectangle 73"/>
          <p:cNvSpPr/>
          <p:nvPr/>
        </p:nvSpPr>
        <p:spPr>
          <a:xfrm>
            <a:off x="5440680" y="1325880"/>
            <a:ext cx="338328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577840" y="1435608"/>
            <a:ext cx="3108960" cy="274320"/>
          </a:xfrm>
          <a:prstGeom prst="rect">
            <a:avLst/>
          </a:prstGeom>
          <a:noFill/>
        </p:spPr>
        <p:txBody>
          <a:bodyPr wrap="square" anchor="t" lIns="18288" rIns="18288" tIns="18288" bIns="18288">
            <a:spAutoFit/>
          </a:bodyPr>
          <a:lstStyle/>
          <a:p>
            <a:pPr algn="l">
              <a:spcAft>
                <a:spcPts val="400"/>
              </a:spcAft>
            </a:pPr>
            <a:r>
              <a:rPr sz="850" b="1" i="0">
                <a:solidFill>
                  <a:srgbClr val="B45309"/>
                </a:solidFill>
                <a:latin typeface="Arial"/>
              </a:rPr>
              <a:t>THE GAP TODAY</a:t>
            </a:r>
          </a:p>
        </p:txBody>
      </p:sp>
      <p:sp>
        <p:nvSpPr>
          <p:cNvPr id="76" name="TextBox 75"/>
          <p:cNvSpPr txBox="1"/>
          <p:nvPr/>
        </p:nvSpPr>
        <p:spPr>
          <a:xfrm>
            <a:off x="5577840" y="1709928"/>
            <a:ext cx="3108960" cy="1371600"/>
          </a:xfrm>
          <a:prstGeom prst="rect">
            <a:avLst/>
          </a:prstGeom>
          <a:noFill/>
        </p:spPr>
        <p:txBody>
          <a:bodyPr wrap="square" anchor="t" lIns="18288" rIns="18288" tIns="18288" bIns="18288">
            <a:spAutoFit/>
          </a:bodyPr>
          <a:lstStyle/>
          <a:p>
            <a:pPr algn="l">
              <a:spcAft>
                <a:spcPts val="300"/>
              </a:spcAft>
            </a:pPr>
            <a:r>
              <a:rPr sz="1200" b="1" i="0">
                <a:solidFill>
                  <a:srgbClr val="16202B"/>
                </a:solidFill>
                <a:latin typeface="Arial"/>
              </a:rPr>
              <a:t>Account takeover</a:t>
            </a:r>
          </a:p>
          <a:p>
            <a:pPr algn="l">
              <a:spcAft>
                <a:spcPts val="300"/>
              </a:spcAft>
            </a:pPr>
            <a:r>
              <a:rPr sz="1050" b="0" i="0">
                <a:solidFill>
                  <a:srgbClr val="5B6774"/>
                </a:solidFill>
                <a:latin typeface="Arial"/>
              </a:rPr>
              <a:t>Stolen credentials, new device, odd location. Detected by every bank today.</a:t>
            </a:r>
          </a:p>
        </p:txBody>
      </p:sp>
      <p:sp>
        <p:nvSpPr>
          <p:cNvPr id="77" name="TextBox 76"/>
          <p:cNvSpPr txBox="1"/>
          <p:nvPr/>
        </p:nvSpPr>
        <p:spPr>
          <a:xfrm>
            <a:off x="5577840" y="2697480"/>
            <a:ext cx="3108960" cy="1463040"/>
          </a:xfrm>
          <a:prstGeom prst="rect">
            <a:avLst/>
          </a:prstGeom>
          <a:noFill/>
        </p:spPr>
        <p:txBody>
          <a:bodyPr wrap="square" anchor="t" lIns="18288" rIns="18288" tIns="18288" bIns="18288">
            <a:spAutoFit/>
          </a:bodyPr>
          <a:lstStyle/>
          <a:p>
            <a:pPr algn="l">
              <a:spcAft>
                <a:spcPts val="300"/>
              </a:spcAft>
            </a:pPr>
            <a:r>
              <a:rPr sz="1200" b="1" i="0">
                <a:solidFill>
                  <a:srgbClr val="B91C1C"/>
                </a:solidFill>
                <a:latin typeface="Arial"/>
              </a:rPr>
              <a:t>Authorised push payment fraud</a:t>
            </a:r>
          </a:p>
          <a:p>
            <a:pPr algn="l">
              <a:spcAft>
                <a:spcPts val="300"/>
              </a:spcAft>
            </a:pPr>
            <a:r>
              <a:rPr sz="1050" b="0" i="0">
                <a:solidFill>
                  <a:srgbClr val="5B6774"/>
                </a:solidFill>
                <a:latin typeface="Arial"/>
              </a:rPr>
              <a:t>Real customer, real PIN, under coercion. Looks legitimate to every rule. The only intervention in production is a static banner, dismissed in two seconds.</a:t>
            </a:r>
          </a:p>
        </p:txBody>
      </p:sp>
      <p:sp>
        <p:nvSpPr>
          <p:cNvPr id="78" name="TextBox 77"/>
          <p:cNvSpPr txBox="1"/>
          <p:nvPr/>
        </p:nvSpPr>
        <p:spPr>
          <a:xfrm>
            <a:off x="5577840" y="3931920"/>
            <a:ext cx="3108960" cy="731520"/>
          </a:xfrm>
          <a:prstGeom prst="rect">
            <a:avLst/>
          </a:prstGeom>
          <a:noFill/>
        </p:spPr>
        <p:txBody>
          <a:bodyPr wrap="square" anchor="t" lIns="18288" rIns="18288" tIns="18288" bIns="18288">
            <a:spAutoFit/>
          </a:bodyPr>
          <a:lstStyle/>
          <a:p>
            <a:pPr algn="l">
              <a:spcAft>
                <a:spcPts val="400"/>
              </a:spcAft>
            </a:pPr>
            <a:r>
              <a:rPr sz="1000" b="0" i="1">
                <a:solidFill>
                  <a:srgbClr val="16202B"/>
                </a:solidFill>
                <a:latin typeface="Arial"/>
              </a:rPr>
              <a:t>Rising fast in India (digital arrest, task and investment scams). The UK now makes sending and receiving banks reimburse victims 50:50.</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br>
              <a:rPr lang="en-GB" sz="1600">
                <a:latin typeface="Google Sans Flex SemiBold"/>
                <a:ea typeface="Google Sans Flex SemiBold"/>
                <a:cs typeface="Google Sans Flex SemiBold"/>
                <a:sym typeface="Google Sans Flex SemiBold"/>
              </a:rPr>
            </a:b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320040" y="1325880"/>
            <a:ext cx="274320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457200" y="1435608"/>
            <a:ext cx="2468880" cy="201168"/>
          </a:xfrm>
          <a:prstGeom prst="rect">
            <a:avLst/>
          </a:prstGeom>
          <a:noFill/>
        </p:spPr>
        <p:txBody>
          <a:bodyPr wrap="square" anchor="t" lIns="18288" rIns="18288" tIns="18288" bIns="18288">
            <a:spAutoFit/>
          </a:bodyPr>
          <a:lstStyle/>
          <a:p>
            <a:pPr algn="l">
              <a:spcAft>
                <a:spcPts val="400"/>
              </a:spcAft>
            </a:pPr>
            <a:r>
              <a:rPr sz="800" b="1" i="0">
                <a:solidFill>
                  <a:srgbClr val="B45309"/>
                </a:solidFill>
                <a:latin typeface="Arial"/>
              </a:rPr>
              <a:t>HOW IT IS DIFFERENT</a:t>
            </a:r>
          </a:p>
        </p:txBody>
      </p:sp>
      <p:sp>
        <p:nvSpPr>
          <p:cNvPr id="82" name="TextBox 81"/>
          <p:cNvSpPr txBox="1"/>
          <p:nvPr/>
        </p:nvSpPr>
        <p:spPr>
          <a:xfrm>
            <a:off x="457200" y="1636776"/>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Models coercion, not takeover</a:t>
            </a:r>
          </a:p>
        </p:txBody>
      </p:sp>
      <p:sp>
        <p:nvSpPr>
          <p:cNvPr id="83" name="TextBox 82"/>
          <p:cNvSpPr txBox="1"/>
          <p:nvPr/>
        </p:nvSpPr>
        <p:spPr>
          <a:xfrm>
            <a:off x="457200" y="1965960"/>
            <a:ext cx="2468880" cy="2734056"/>
          </a:xfrm>
          <a:prstGeom prst="rect">
            <a:avLst/>
          </a:prstGeom>
          <a:noFill/>
        </p:spPr>
        <p:txBody>
          <a:bodyPr wrap="square" anchor="t" lIns="18288" rIns="18288" tIns="18288" bIns="18288">
            <a:spAutoFit/>
          </a:bodyPr>
          <a:lstStyle/>
          <a:p>
            <a:pPr algn="l">
              <a:spcAft>
                <a:spcPts val="300"/>
              </a:spcAft>
            </a:pPr>
            <a:r>
              <a:rPr sz="1100" b="0" i="0">
                <a:solidFill>
                  <a:srgbClr val="16202B"/>
                </a:solidFill>
                <a:latin typeface="Arial"/>
              </a:rPr>
              <a:t>Existing fraud engines model account takeover. Second Voice models coercion: payee novelty, amount against the customer's own history, an active call, a remote-access app, fan-in from our other customers, and a band from the receiving bank.</a:t>
            </a:r>
          </a:p>
          <a:p>
            <a:pPr algn="l">
              <a:spcAft>
                <a:spcPts val="300"/>
              </a:spcAft>
            </a:pPr>
            <a:r>
              <a:rPr sz="1100" b="0" i="0">
                <a:solidFill>
                  <a:srgbClr val="16202B"/>
                </a:solidFill>
                <a:latin typeface="Arial"/>
              </a:rPr>
              <a:t>The response is a conversation shaped by the suspected scam script, with questions the scammer did not coach the victim for.</a:t>
            </a:r>
          </a:p>
        </p:txBody>
      </p:sp>
      <p:sp>
        <p:nvSpPr>
          <p:cNvPr id="84" name="Rounded Rectangle 83"/>
          <p:cNvSpPr/>
          <p:nvPr/>
        </p:nvSpPr>
        <p:spPr>
          <a:xfrm>
            <a:off x="3200400" y="1325880"/>
            <a:ext cx="274320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3337560" y="1435608"/>
            <a:ext cx="2468880" cy="201168"/>
          </a:xfrm>
          <a:prstGeom prst="rect">
            <a:avLst/>
          </a:prstGeom>
          <a:noFill/>
        </p:spPr>
        <p:txBody>
          <a:bodyPr wrap="square" anchor="t" lIns="18288" rIns="18288" tIns="18288" bIns="18288">
            <a:spAutoFit/>
          </a:bodyPr>
          <a:lstStyle/>
          <a:p>
            <a:pPr algn="l">
              <a:spcAft>
                <a:spcPts val="400"/>
              </a:spcAft>
            </a:pPr>
            <a:r>
              <a:rPr sz="800" b="1" i="0">
                <a:solidFill>
                  <a:srgbClr val="B45309"/>
                </a:solidFill>
                <a:latin typeface="Arial"/>
              </a:rPr>
              <a:t>HOW IT SOLVES THE PROBLEM</a:t>
            </a:r>
          </a:p>
        </p:txBody>
      </p:sp>
      <p:sp>
        <p:nvSpPr>
          <p:cNvPr id="86" name="TextBox 85"/>
          <p:cNvSpPr txBox="1"/>
          <p:nvPr/>
        </p:nvSpPr>
        <p:spPr>
          <a:xfrm>
            <a:off x="3337560" y="1636776"/>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Two banks, two chances</a:t>
            </a:r>
          </a:p>
        </p:txBody>
      </p:sp>
      <p:sp>
        <p:nvSpPr>
          <p:cNvPr id="87" name="TextBox 86"/>
          <p:cNvSpPr txBox="1"/>
          <p:nvPr/>
        </p:nvSpPr>
        <p:spPr>
          <a:xfrm>
            <a:off x="3337560" y="1965960"/>
            <a:ext cx="2468880" cy="2734056"/>
          </a:xfrm>
          <a:prstGeom prst="rect">
            <a:avLst/>
          </a:prstGeom>
          <a:noFill/>
        </p:spPr>
        <p:txBody>
          <a:bodyPr wrap="square" anchor="t" lIns="18288" rIns="18288" tIns="18288" bIns="18288">
            <a:spAutoFit/>
          </a:bodyPr>
          <a:lstStyle/>
          <a:p>
            <a:pPr algn="l">
              <a:spcAft>
                <a:spcPts val="300"/>
              </a:spcAft>
            </a:pPr>
            <a:r>
              <a:rPr sz="1100" b="0" i="0">
                <a:solidFill>
                  <a:srgbClr val="16202B"/>
                </a:solidFill>
                <a:latin typeface="Arial"/>
              </a:rPr>
              <a:t>Payer side: pause before the debit, ask, offer a trusted-contact call and a cooling-off, then release, hold or cancel.</a:t>
            </a:r>
          </a:p>
          <a:p>
            <a:pPr algn="l">
              <a:spcAft>
                <a:spcPts val="300"/>
              </a:spcAft>
            </a:pPr>
            <a:r>
              <a:rPr sz="1100" b="0" i="0">
                <a:solidFill>
                  <a:srgbClr val="16202B"/>
                </a:solidFill>
                <a:latin typeface="Arial"/>
              </a:rPr>
              <a:t>Receiver side: the beneficiary bank scores its own accounts (age, KYC depth, first-time inflow fan-in, sweep-out speed) and holds credits to High-band accounts, so money stays inside the banking system even after an override.</a:t>
            </a:r>
          </a:p>
        </p:txBody>
      </p:sp>
      <p:sp>
        <p:nvSpPr>
          <p:cNvPr id="88" name="Rounded Rectangle 87"/>
          <p:cNvSpPr/>
          <p:nvPr/>
        </p:nvSpPr>
        <p:spPr>
          <a:xfrm>
            <a:off x="6080760" y="1325880"/>
            <a:ext cx="2743200" cy="34290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6217920" y="1435608"/>
            <a:ext cx="2468880" cy="201168"/>
          </a:xfrm>
          <a:prstGeom prst="rect">
            <a:avLst/>
          </a:prstGeom>
          <a:noFill/>
        </p:spPr>
        <p:txBody>
          <a:bodyPr wrap="square" anchor="t" lIns="18288" rIns="18288" tIns="18288" bIns="18288">
            <a:spAutoFit/>
          </a:bodyPr>
          <a:lstStyle/>
          <a:p>
            <a:pPr algn="l">
              <a:spcAft>
                <a:spcPts val="400"/>
              </a:spcAft>
            </a:pPr>
            <a:r>
              <a:rPr sz="800" b="1" i="0">
                <a:solidFill>
                  <a:srgbClr val="B45309"/>
                </a:solidFill>
                <a:latin typeface="Arial"/>
              </a:rPr>
              <a:t>USP</a:t>
            </a:r>
          </a:p>
        </p:txBody>
      </p:sp>
      <p:sp>
        <p:nvSpPr>
          <p:cNvPr id="90" name="TextBox 89"/>
          <p:cNvSpPr txBox="1"/>
          <p:nvPr/>
        </p:nvSpPr>
        <p:spPr>
          <a:xfrm>
            <a:off x="6217920" y="1636776"/>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A network, not a rule</a:t>
            </a:r>
          </a:p>
        </p:txBody>
      </p:sp>
      <p:sp>
        <p:nvSpPr>
          <p:cNvPr id="91" name="TextBox 90"/>
          <p:cNvSpPr txBox="1"/>
          <p:nvPr/>
        </p:nvSpPr>
        <p:spPr>
          <a:xfrm>
            <a:off x="6217920" y="1965960"/>
            <a:ext cx="2468880" cy="2734056"/>
          </a:xfrm>
          <a:prstGeom prst="rect">
            <a:avLst/>
          </a:prstGeom>
          <a:noFill/>
        </p:spPr>
        <p:txBody>
          <a:bodyPr wrap="square" anchor="t" lIns="18288" rIns="18288" tIns="18288" bIns="18288">
            <a:spAutoFit/>
          </a:bodyPr>
          <a:lstStyle/>
          <a:p>
            <a:pPr algn="l">
              <a:spcAft>
                <a:spcPts val="300"/>
              </a:spcAft>
            </a:pPr>
            <a:r>
              <a:rPr sz="1100" b="0" i="0">
                <a:solidFill>
                  <a:srgbClr val="16202B"/>
                </a:solidFill>
                <a:latin typeface="Arial"/>
              </a:rPr>
              <a:t>One field added to the existing UPI address-validation lookup carries the receiver band. Every bank that joins sharpens every other bank's score.</a:t>
            </a:r>
          </a:p>
          <a:p>
            <a:pPr algn="l">
              <a:spcAft>
                <a:spcPts val="300"/>
              </a:spcAft>
            </a:pPr>
            <a:r>
              <a:rPr sz="1100" b="0" i="0">
                <a:solidFill>
                  <a:srgbClr val="16202B"/>
                </a:solidFill>
                <a:latin typeface="Arial"/>
              </a:rPr>
              <a:t>Graduated tiers mean low-risk payments see nothing. Fraud teams get the full reasoning, transcript and a Gemini summary, plus a payee blocklist and I4C report in one click.</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320040" y="132588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Box 88"/>
          <p:cNvSpPr txBox="1"/>
          <p:nvPr/>
        </p:nvSpPr>
        <p:spPr>
          <a:xfrm>
            <a:off x="457200" y="143560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Coercion score</a:t>
            </a:r>
          </a:p>
        </p:txBody>
      </p:sp>
      <p:sp>
        <p:nvSpPr>
          <p:cNvPr id="90" name="TextBox 89"/>
          <p:cNvSpPr txBox="1"/>
          <p:nvPr/>
        </p:nvSpPr>
        <p:spPr>
          <a:xfrm>
            <a:off x="457200" y="176479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Weighted model over eight interpretable signals, each shown with its contribution. Tiers: low, medium, high, very high.</a:t>
            </a:r>
          </a:p>
        </p:txBody>
      </p:sp>
      <p:sp>
        <p:nvSpPr>
          <p:cNvPr id="91" name="Rounded Rectangle 90"/>
          <p:cNvSpPr/>
          <p:nvPr/>
        </p:nvSpPr>
        <p:spPr>
          <a:xfrm>
            <a:off x="3200400" y="132588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Box 91"/>
          <p:cNvSpPr txBox="1"/>
          <p:nvPr/>
        </p:nvSpPr>
        <p:spPr>
          <a:xfrm>
            <a:off x="3337560" y="143560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Script-aware intervention</a:t>
            </a:r>
          </a:p>
        </p:txBody>
      </p:sp>
      <p:sp>
        <p:nvSpPr>
          <p:cNvPr id="93" name="TextBox 92"/>
          <p:cNvSpPr txBox="1"/>
          <p:nvPr/>
        </p:nvSpPr>
        <p:spPr>
          <a:xfrm>
            <a:off x="3337560" y="176479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Gemini names the scam script (digital arrest, parcel, KYC expiry, investment group, task fraud) and runs an adaptive conversation.</a:t>
            </a:r>
          </a:p>
        </p:txBody>
      </p:sp>
      <p:sp>
        <p:nvSpPr>
          <p:cNvPr id="94" name="Rounded Rectangle 93"/>
          <p:cNvSpPr/>
          <p:nvPr/>
        </p:nvSpPr>
        <p:spPr>
          <a:xfrm>
            <a:off x="6080760" y="132588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6217920" y="143560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Graduated friction</a:t>
            </a:r>
          </a:p>
        </p:txBody>
      </p:sp>
      <p:sp>
        <p:nvSpPr>
          <p:cNvPr id="96" name="TextBox 95"/>
          <p:cNvSpPr txBox="1"/>
          <p:nvPr/>
        </p:nvSpPr>
        <p:spPr>
          <a:xfrm>
            <a:off x="6217920" y="176479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Low: nothing. Medium: one question. High: hold, trusted-contact call, cooling-off. Very high: block and route to a specialist.</a:t>
            </a:r>
          </a:p>
        </p:txBody>
      </p:sp>
      <p:sp>
        <p:nvSpPr>
          <p:cNvPr id="97" name="Rounded Rectangle 96"/>
          <p:cNvSpPr/>
          <p:nvPr/>
        </p:nvSpPr>
        <p:spPr>
          <a:xfrm>
            <a:off x="320040" y="306324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Box 97"/>
          <p:cNvSpPr txBox="1"/>
          <p:nvPr/>
        </p:nvSpPr>
        <p:spPr>
          <a:xfrm>
            <a:off x="457200" y="317296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Receiver risk band</a:t>
            </a:r>
          </a:p>
        </p:txBody>
      </p:sp>
      <p:sp>
        <p:nvSpPr>
          <p:cNvPr id="99" name="TextBox 98"/>
          <p:cNvSpPr txBox="1"/>
          <p:nvPr/>
        </p:nvSpPr>
        <p:spPr>
          <a:xfrm>
            <a:off x="457200" y="350215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The receiving bank scores its own accounts and answers address validation with Low, Elevated or High. No account data crosses the wall.</a:t>
            </a:r>
          </a:p>
        </p:txBody>
      </p:sp>
      <p:sp>
        <p:nvSpPr>
          <p:cNvPr id="100" name="Rounded Rectangle 99"/>
          <p:cNvSpPr/>
          <p:nvPr/>
        </p:nvSpPr>
        <p:spPr>
          <a:xfrm>
            <a:off x="3200400" y="306324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3337560" y="317296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Credit hold at the receiver</a:t>
            </a:r>
          </a:p>
        </p:txBody>
      </p:sp>
      <p:sp>
        <p:nvSpPr>
          <p:cNvPr id="102" name="TextBox 101"/>
          <p:cNvSpPr txBox="1"/>
          <p:nvPr/>
        </p:nvSpPr>
        <p:spPr>
          <a:xfrm>
            <a:off x="3337560" y="350215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An override still lands on a 24-hour hold at the beneficiary bank when the account is High band.</a:t>
            </a:r>
          </a:p>
        </p:txBody>
      </p:sp>
      <p:sp>
        <p:nvSpPr>
          <p:cNvPr id="103" name="Rounded Rectangle 102"/>
          <p:cNvSpPr/>
          <p:nvPr/>
        </p:nvSpPr>
        <p:spPr>
          <a:xfrm>
            <a:off x="6080760" y="306324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Box 103"/>
          <p:cNvSpPr txBox="1"/>
          <p:nvPr/>
        </p:nvSpPr>
        <p:spPr>
          <a:xfrm>
            <a:off x="6217920" y="317296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Fraud operations</a:t>
            </a:r>
          </a:p>
        </p:txBody>
      </p:sp>
      <p:sp>
        <p:nvSpPr>
          <p:cNvPr id="105" name="TextBox 104"/>
          <p:cNvSpPr txBox="1"/>
          <p:nvPr/>
        </p:nvSpPr>
        <p:spPr>
          <a:xfrm>
            <a:off x="6217920" y="350215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Live case queue, signals, transcript with the agent's reasoning, Gemini case summary, one-click payee blocklist and I4C report.</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320040" y="1417320"/>
            <a:ext cx="1417320" cy="914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393192" y="1472184"/>
            <a:ext cx="1271016" cy="274320"/>
          </a:xfrm>
          <a:prstGeom prst="rect">
            <a:avLst/>
          </a:prstGeom>
          <a:noFill/>
        </p:spPr>
        <p:txBody>
          <a:bodyPr wrap="square" anchor="t" lIns="18288" rIns="18288" tIns="18288" bIns="18288">
            <a:spAutoFit/>
          </a:bodyPr>
          <a:lstStyle/>
          <a:p>
            <a:pPr algn="l">
              <a:spcAft>
                <a:spcPts val="400"/>
              </a:spcAft>
            </a:pPr>
            <a:r>
              <a:rPr sz="1000" b="1" i="0">
                <a:solidFill>
                  <a:srgbClr val="16202B"/>
                </a:solidFill>
                <a:latin typeface="Arial"/>
              </a:rPr>
              <a:t>1  Tap Pay</a:t>
            </a:r>
          </a:p>
        </p:txBody>
      </p:sp>
      <p:sp>
        <p:nvSpPr>
          <p:cNvPr id="98" name="TextBox 97"/>
          <p:cNvSpPr txBox="1"/>
          <p:nvPr/>
        </p:nvSpPr>
        <p:spPr>
          <a:xfrm>
            <a:off x="393192" y="1746504"/>
            <a:ext cx="1271016" cy="54864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Bank A app. SDK attaches device context.</a:t>
            </a:r>
          </a:p>
        </p:txBody>
      </p:sp>
      <p:sp>
        <p:nvSpPr>
          <p:cNvPr id="99" name="Right Arrow 98"/>
          <p:cNvSpPr/>
          <p:nvPr/>
        </p:nvSpPr>
        <p:spPr>
          <a:xfrm>
            <a:off x="1755648" y="1764792"/>
            <a:ext cx="237744" cy="219456"/>
          </a:xfrm>
          <a:prstGeom prst="rightArrow">
            <a:avLst/>
          </a:prstGeom>
          <a:solidFill>
            <a:srgbClr val="5B6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ounded Rectangle 99"/>
          <p:cNvSpPr/>
          <p:nvPr/>
        </p:nvSpPr>
        <p:spPr>
          <a:xfrm>
            <a:off x="2011680" y="1417320"/>
            <a:ext cx="1417320" cy="914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2084832" y="1472184"/>
            <a:ext cx="1271016" cy="274320"/>
          </a:xfrm>
          <a:prstGeom prst="rect">
            <a:avLst/>
          </a:prstGeom>
          <a:noFill/>
        </p:spPr>
        <p:txBody>
          <a:bodyPr wrap="square" anchor="t" lIns="18288" rIns="18288" tIns="18288" bIns="18288">
            <a:spAutoFit/>
          </a:bodyPr>
          <a:lstStyle/>
          <a:p>
            <a:pPr algn="l">
              <a:spcAft>
                <a:spcPts val="400"/>
              </a:spcAft>
            </a:pPr>
            <a:r>
              <a:rPr sz="1000" b="1" i="0">
                <a:solidFill>
                  <a:srgbClr val="16202B"/>
                </a:solidFill>
                <a:latin typeface="Arial"/>
              </a:rPr>
              <a:t>2  Address check</a:t>
            </a:r>
          </a:p>
        </p:txBody>
      </p:sp>
      <p:sp>
        <p:nvSpPr>
          <p:cNvPr id="102" name="TextBox 101"/>
          <p:cNvSpPr txBox="1"/>
          <p:nvPr/>
        </p:nvSpPr>
        <p:spPr>
          <a:xfrm>
            <a:off x="2084832" y="1746504"/>
            <a:ext cx="1271016" cy="54864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Bank A asks Bank B for the name. Bank B answers with name + risk band.</a:t>
            </a:r>
          </a:p>
        </p:txBody>
      </p:sp>
      <p:sp>
        <p:nvSpPr>
          <p:cNvPr id="103" name="Right Arrow 102"/>
          <p:cNvSpPr/>
          <p:nvPr/>
        </p:nvSpPr>
        <p:spPr>
          <a:xfrm>
            <a:off x="3447288" y="1764792"/>
            <a:ext cx="237744" cy="219456"/>
          </a:xfrm>
          <a:prstGeom prst="rightArrow">
            <a:avLst/>
          </a:prstGeom>
          <a:solidFill>
            <a:srgbClr val="5B6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3703320" y="1417320"/>
            <a:ext cx="1417320" cy="914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Box 104"/>
          <p:cNvSpPr txBox="1"/>
          <p:nvPr/>
        </p:nvSpPr>
        <p:spPr>
          <a:xfrm>
            <a:off x="3776472" y="1472184"/>
            <a:ext cx="1271016" cy="274320"/>
          </a:xfrm>
          <a:prstGeom prst="rect">
            <a:avLst/>
          </a:prstGeom>
          <a:noFill/>
        </p:spPr>
        <p:txBody>
          <a:bodyPr wrap="square" anchor="t" lIns="18288" rIns="18288" tIns="18288" bIns="18288">
            <a:spAutoFit/>
          </a:bodyPr>
          <a:lstStyle/>
          <a:p>
            <a:pPr algn="l">
              <a:spcAft>
                <a:spcPts val="400"/>
              </a:spcAft>
            </a:pPr>
            <a:r>
              <a:rPr sz="1000" b="1" i="0">
                <a:solidFill>
                  <a:srgbClr val="16202B"/>
                </a:solidFill>
                <a:latin typeface="Arial"/>
              </a:rPr>
              <a:t>3  Coercion score</a:t>
            </a:r>
          </a:p>
        </p:txBody>
      </p:sp>
      <p:sp>
        <p:nvSpPr>
          <p:cNvPr id="106" name="TextBox 105"/>
          <p:cNvSpPr txBox="1"/>
          <p:nvPr/>
        </p:nvSpPr>
        <p:spPr>
          <a:xfrm>
            <a:off x="3776472" y="1746504"/>
            <a:ext cx="1271016" cy="54864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History, payee reputation, device, band, registry. Eight signals, one score.</a:t>
            </a:r>
          </a:p>
        </p:txBody>
      </p:sp>
      <p:sp>
        <p:nvSpPr>
          <p:cNvPr id="107" name="Right Arrow 106"/>
          <p:cNvSpPr/>
          <p:nvPr/>
        </p:nvSpPr>
        <p:spPr>
          <a:xfrm>
            <a:off x="5138928" y="1764792"/>
            <a:ext cx="237744" cy="219456"/>
          </a:xfrm>
          <a:prstGeom prst="rightArrow">
            <a:avLst/>
          </a:prstGeom>
          <a:solidFill>
            <a:srgbClr val="5B6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5394960" y="1417320"/>
            <a:ext cx="1417320" cy="9144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Box 108"/>
          <p:cNvSpPr txBox="1"/>
          <p:nvPr/>
        </p:nvSpPr>
        <p:spPr>
          <a:xfrm>
            <a:off x="5468112" y="1472184"/>
            <a:ext cx="1271016" cy="274320"/>
          </a:xfrm>
          <a:prstGeom prst="rect">
            <a:avLst/>
          </a:prstGeom>
          <a:noFill/>
        </p:spPr>
        <p:txBody>
          <a:bodyPr wrap="square" anchor="t" lIns="18288" rIns="18288" tIns="18288" bIns="18288">
            <a:spAutoFit/>
          </a:bodyPr>
          <a:lstStyle/>
          <a:p>
            <a:pPr algn="l">
              <a:spcAft>
                <a:spcPts val="400"/>
              </a:spcAft>
            </a:pPr>
            <a:r>
              <a:rPr sz="1000" b="1" i="0">
                <a:solidFill>
                  <a:srgbClr val="16202B"/>
                </a:solidFill>
                <a:latin typeface="Arial"/>
              </a:rPr>
              <a:t>4  Tier</a:t>
            </a:r>
          </a:p>
        </p:txBody>
      </p:sp>
      <p:sp>
        <p:nvSpPr>
          <p:cNvPr id="110" name="TextBox 109"/>
          <p:cNvSpPr txBox="1"/>
          <p:nvPr/>
        </p:nvSpPr>
        <p:spPr>
          <a:xfrm>
            <a:off x="5468112" y="1746504"/>
            <a:ext cx="1271016" cy="54864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Low: allow. Medium/High: hold and talk. Very high: block.</a:t>
            </a:r>
          </a:p>
        </p:txBody>
      </p:sp>
      <p:sp>
        <p:nvSpPr>
          <p:cNvPr id="111" name="Right Arrow 110"/>
          <p:cNvSpPr/>
          <p:nvPr/>
        </p:nvSpPr>
        <p:spPr>
          <a:xfrm>
            <a:off x="6830568" y="1764792"/>
            <a:ext cx="237744" cy="219456"/>
          </a:xfrm>
          <a:prstGeom prst="rightArrow">
            <a:avLst/>
          </a:prstGeom>
          <a:solidFill>
            <a:srgbClr val="5B6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ounded Rectangle 111"/>
          <p:cNvSpPr/>
          <p:nvPr/>
        </p:nvSpPr>
        <p:spPr>
          <a:xfrm>
            <a:off x="7086600" y="1417320"/>
            <a:ext cx="1417320" cy="914400"/>
          </a:xfrm>
          <a:prstGeom prst="roundRect">
            <a:avLst>
              <a:gd name="adj" fmla="val 6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7159752" y="1472184"/>
            <a:ext cx="1271016" cy="274320"/>
          </a:xfrm>
          <a:prstGeom prst="rect">
            <a:avLst/>
          </a:prstGeom>
          <a:noFill/>
        </p:spPr>
        <p:txBody>
          <a:bodyPr wrap="square" anchor="t" lIns="18288" rIns="18288" tIns="18288" bIns="18288">
            <a:spAutoFit/>
          </a:bodyPr>
          <a:lstStyle/>
          <a:p>
            <a:pPr algn="l">
              <a:spcAft>
                <a:spcPts val="400"/>
              </a:spcAft>
            </a:pPr>
            <a:r>
              <a:rPr sz="1000" b="1" i="0">
                <a:solidFill>
                  <a:srgbClr val="16202B"/>
                </a:solidFill>
                <a:latin typeface="Arial"/>
              </a:rPr>
              <a:t>5  Gemini talks</a:t>
            </a:r>
          </a:p>
        </p:txBody>
      </p:sp>
      <p:sp>
        <p:nvSpPr>
          <p:cNvPr id="114" name="TextBox 113"/>
          <p:cNvSpPr txBox="1"/>
          <p:nvPr/>
        </p:nvSpPr>
        <p:spPr>
          <a:xfrm>
            <a:off x="7159752" y="1746504"/>
            <a:ext cx="1271016" cy="54864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Script-aware questions. Re-scored on every turn.</a:t>
            </a:r>
          </a:p>
        </p:txBody>
      </p:sp>
      <p:sp>
        <p:nvSpPr>
          <p:cNvPr id="115" name="TextBox 114"/>
          <p:cNvSpPr txBox="1"/>
          <p:nvPr/>
        </p:nvSpPr>
        <p:spPr>
          <a:xfrm>
            <a:off x="320040" y="2441448"/>
            <a:ext cx="8503920" cy="274320"/>
          </a:xfrm>
          <a:prstGeom prst="rect">
            <a:avLst/>
          </a:prstGeom>
          <a:noFill/>
        </p:spPr>
        <p:txBody>
          <a:bodyPr wrap="square" anchor="t" lIns="18288" rIns="18288" tIns="18288" bIns="18288">
            <a:spAutoFit/>
          </a:bodyPr>
          <a:lstStyle/>
          <a:p>
            <a:pPr algn="l">
              <a:spcAft>
                <a:spcPts val="400"/>
              </a:spcAft>
            </a:pPr>
            <a:r>
              <a:rPr sz="850" b="1" i="0">
                <a:solidFill>
                  <a:srgbClr val="B45309"/>
                </a:solidFill>
                <a:latin typeface="Arial"/>
              </a:rPr>
              <a:t>OUTCOMES</a:t>
            </a:r>
          </a:p>
        </p:txBody>
      </p:sp>
      <p:sp>
        <p:nvSpPr>
          <p:cNvPr id="116" name="Rounded Rectangle 115"/>
          <p:cNvSpPr/>
          <p:nvPr/>
        </p:nvSpPr>
        <p:spPr>
          <a:xfrm>
            <a:off x="320040" y="2834640"/>
            <a:ext cx="1600200" cy="1143000"/>
          </a:xfrm>
          <a:prstGeom prst="roundRect">
            <a:avLst>
              <a:gd name="adj" fmla="val 6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411480" y="2907792"/>
            <a:ext cx="1417320" cy="274320"/>
          </a:xfrm>
          <a:prstGeom prst="rect">
            <a:avLst/>
          </a:prstGeom>
          <a:noFill/>
        </p:spPr>
        <p:txBody>
          <a:bodyPr wrap="square" anchor="t" lIns="18288" rIns="18288" tIns="18288" bIns="18288">
            <a:spAutoFit/>
          </a:bodyPr>
          <a:lstStyle/>
          <a:p>
            <a:pPr algn="l">
              <a:spcAft>
                <a:spcPts val="400"/>
              </a:spcAft>
            </a:pPr>
            <a:r>
              <a:rPr sz="1050" b="1" i="0">
                <a:solidFill>
                  <a:srgbClr val="15803D"/>
                </a:solidFill>
                <a:latin typeface="Arial"/>
              </a:rPr>
              <a:t>Release</a:t>
            </a:r>
          </a:p>
        </p:txBody>
      </p:sp>
      <p:sp>
        <p:nvSpPr>
          <p:cNvPr id="118" name="TextBox 117"/>
          <p:cNvSpPr txBox="1"/>
          <p:nvPr/>
        </p:nvSpPr>
        <p:spPr>
          <a:xfrm>
            <a:off x="411480" y="3200400"/>
            <a:ext cx="1417320" cy="73152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Customer knows the payee. Payment completes.</a:t>
            </a:r>
          </a:p>
        </p:txBody>
      </p:sp>
      <p:sp>
        <p:nvSpPr>
          <p:cNvPr id="119" name="Rounded Rectangle 118"/>
          <p:cNvSpPr/>
          <p:nvPr/>
        </p:nvSpPr>
        <p:spPr>
          <a:xfrm>
            <a:off x="2039112" y="2834640"/>
            <a:ext cx="1600200" cy="1143000"/>
          </a:xfrm>
          <a:prstGeom prst="roundRect">
            <a:avLst>
              <a:gd name="adj" fmla="val 6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Box 119"/>
          <p:cNvSpPr txBox="1"/>
          <p:nvPr/>
        </p:nvSpPr>
        <p:spPr>
          <a:xfrm>
            <a:off x="2130552" y="2907792"/>
            <a:ext cx="1417320" cy="274320"/>
          </a:xfrm>
          <a:prstGeom prst="rect">
            <a:avLst/>
          </a:prstGeom>
          <a:noFill/>
        </p:spPr>
        <p:txBody>
          <a:bodyPr wrap="square" anchor="t" lIns="18288" rIns="18288" tIns="18288" bIns="18288">
            <a:spAutoFit/>
          </a:bodyPr>
          <a:lstStyle/>
          <a:p>
            <a:pPr algn="l">
              <a:spcAft>
                <a:spcPts val="400"/>
              </a:spcAft>
            </a:pPr>
            <a:r>
              <a:rPr sz="1050" b="1" i="0">
                <a:solidFill>
                  <a:srgbClr val="B45309"/>
                </a:solidFill>
                <a:latin typeface="Arial"/>
              </a:rPr>
              <a:t>Trusted-contact hold</a:t>
            </a:r>
          </a:p>
        </p:txBody>
      </p:sp>
      <p:sp>
        <p:nvSpPr>
          <p:cNvPr id="121" name="TextBox 120"/>
          <p:cNvSpPr txBox="1"/>
          <p:nvPr/>
        </p:nvSpPr>
        <p:spPr>
          <a:xfrm>
            <a:off x="2130552" y="3200400"/>
            <a:ext cx="1417320" cy="73152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Daughter is called. 24-hour pause. Nothing moves.</a:t>
            </a:r>
          </a:p>
        </p:txBody>
      </p:sp>
      <p:sp>
        <p:nvSpPr>
          <p:cNvPr id="122" name="Rounded Rectangle 121"/>
          <p:cNvSpPr/>
          <p:nvPr/>
        </p:nvSpPr>
        <p:spPr>
          <a:xfrm>
            <a:off x="3758184" y="2834640"/>
            <a:ext cx="1600200" cy="1143000"/>
          </a:xfrm>
          <a:prstGeom prst="roundRect">
            <a:avLst>
              <a:gd name="adj" fmla="val 6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3849624" y="2907792"/>
            <a:ext cx="1417320" cy="274320"/>
          </a:xfrm>
          <a:prstGeom prst="rect">
            <a:avLst/>
          </a:prstGeom>
          <a:noFill/>
        </p:spPr>
        <p:txBody>
          <a:bodyPr wrap="square" anchor="t" lIns="18288" rIns="18288" tIns="18288" bIns="18288">
            <a:spAutoFit/>
          </a:bodyPr>
          <a:lstStyle/>
          <a:p>
            <a:pPr algn="l">
              <a:spcAft>
                <a:spcPts val="400"/>
              </a:spcAft>
            </a:pPr>
            <a:r>
              <a:rPr sz="1050" b="1" i="0">
                <a:solidFill>
                  <a:srgbClr val="16202B"/>
                </a:solidFill>
                <a:latin typeface="Arial"/>
              </a:rPr>
              <a:t>Cancel</a:t>
            </a:r>
          </a:p>
        </p:txBody>
      </p:sp>
      <p:sp>
        <p:nvSpPr>
          <p:cNvPr id="124" name="TextBox 123"/>
          <p:cNvSpPr txBox="1"/>
          <p:nvPr/>
        </p:nvSpPr>
        <p:spPr>
          <a:xfrm>
            <a:off x="3849624" y="3200400"/>
            <a:ext cx="1417320" cy="73152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Customer cancels. Case closed, payee blocklisted if confirmed.</a:t>
            </a:r>
          </a:p>
        </p:txBody>
      </p:sp>
      <p:sp>
        <p:nvSpPr>
          <p:cNvPr id="125" name="Rounded Rectangle 124"/>
          <p:cNvSpPr/>
          <p:nvPr/>
        </p:nvSpPr>
        <p:spPr>
          <a:xfrm>
            <a:off x="5477256" y="2834640"/>
            <a:ext cx="1600200" cy="1143000"/>
          </a:xfrm>
          <a:prstGeom prst="roundRect">
            <a:avLst>
              <a:gd name="adj" fmla="val 6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Box 125"/>
          <p:cNvSpPr txBox="1"/>
          <p:nvPr/>
        </p:nvSpPr>
        <p:spPr>
          <a:xfrm>
            <a:off x="5568696" y="2907792"/>
            <a:ext cx="1417320" cy="274320"/>
          </a:xfrm>
          <a:prstGeom prst="rect">
            <a:avLst/>
          </a:prstGeom>
          <a:noFill/>
        </p:spPr>
        <p:txBody>
          <a:bodyPr wrap="square" anchor="t" lIns="18288" rIns="18288" tIns="18288" bIns="18288">
            <a:spAutoFit/>
          </a:bodyPr>
          <a:lstStyle/>
          <a:p>
            <a:pPr algn="l">
              <a:spcAft>
                <a:spcPts val="400"/>
              </a:spcAft>
            </a:pPr>
            <a:r>
              <a:rPr sz="1050" b="1" i="0">
                <a:solidFill>
                  <a:srgbClr val="B91C1C"/>
                </a:solidFill>
                <a:latin typeface="Arial"/>
              </a:rPr>
              <a:t>Override</a:t>
            </a:r>
          </a:p>
        </p:txBody>
      </p:sp>
      <p:sp>
        <p:nvSpPr>
          <p:cNvPr id="127" name="TextBox 126"/>
          <p:cNvSpPr txBox="1"/>
          <p:nvPr/>
        </p:nvSpPr>
        <p:spPr>
          <a:xfrm>
            <a:off x="5568696" y="3200400"/>
            <a:ext cx="1417320" cy="73152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10-second cooling-off, then debit. Bank B holds the credit if High band.</a:t>
            </a:r>
          </a:p>
        </p:txBody>
      </p:sp>
      <p:sp>
        <p:nvSpPr>
          <p:cNvPr id="128" name="Rounded Rectangle 127"/>
          <p:cNvSpPr/>
          <p:nvPr/>
        </p:nvSpPr>
        <p:spPr>
          <a:xfrm>
            <a:off x="7196328" y="2834640"/>
            <a:ext cx="1600200" cy="1143000"/>
          </a:xfrm>
          <a:prstGeom prst="roundRect">
            <a:avLst>
              <a:gd name="adj" fmla="val 6000"/>
            </a:avLst>
          </a:prstGeom>
          <a:solidFill>
            <a:srgbClr val="FFFFFF"/>
          </a:solidFill>
          <a:ln w="9525">
            <a:solidFill>
              <a:srgbClr val="D9DEE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7287768" y="2907792"/>
            <a:ext cx="1417320" cy="274320"/>
          </a:xfrm>
          <a:prstGeom prst="rect">
            <a:avLst/>
          </a:prstGeom>
          <a:noFill/>
        </p:spPr>
        <p:txBody>
          <a:bodyPr wrap="square" anchor="t" lIns="18288" rIns="18288" tIns="18288" bIns="18288">
            <a:spAutoFit/>
          </a:bodyPr>
          <a:lstStyle/>
          <a:p>
            <a:pPr algn="l">
              <a:spcAft>
                <a:spcPts val="400"/>
              </a:spcAft>
            </a:pPr>
            <a:r>
              <a:rPr sz="1050" b="1" i="0">
                <a:solidFill>
                  <a:srgbClr val="5B6774"/>
                </a:solidFill>
                <a:latin typeface="Arial"/>
              </a:rPr>
              <a:t>Fraud ops</a:t>
            </a:r>
          </a:p>
        </p:txBody>
      </p:sp>
      <p:sp>
        <p:nvSpPr>
          <p:cNvPr id="130" name="TextBox 129"/>
          <p:cNvSpPr txBox="1"/>
          <p:nvPr/>
        </p:nvSpPr>
        <p:spPr>
          <a:xfrm>
            <a:off x="7287768" y="3200400"/>
            <a:ext cx="1417320" cy="731520"/>
          </a:xfrm>
          <a:prstGeom prst="rect">
            <a:avLst/>
          </a:prstGeom>
          <a:noFill/>
        </p:spPr>
        <p:txBody>
          <a:bodyPr wrap="square" anchor="t" lIns="18288" rIns="18288" tIns="18288" bIns="18288">
            <a:spAutoFit/>
          </a:bodyPr>
          <a:lstStyle/>
          <a:p>
            <a:pPr algn="l">
              <a:spcAft>
                <a:spcPts val="400"/>
              </a:spcAft>
            </a:pPr>
            <a:r>
              <a:rPr sz="850" b="0" i="0">
                <a:solidFill>
                  <a:srgbClr val="5B6774"/>
                </a:solidFill>
                <a:latin typeface="Arial"/>
              </a:rPr>
              <a:t>Transcript, summary, outcome label, I4C report. Outcomes retrain the score.</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a:t>
            </a:r>
            <a:endParaRPr sz="1600">
              <a:latin typeface="Google Sans Flex Medium"/>
              <a:ea typeface="Google Sans Flex Medium"/>
              <a:cs typeface="Google Sans Flex Medium"/>
              <a:sym typeface="Google Sans Flex Medium"/>
            </a:endParaRPr>
          </a:p>
        </p:txBody>
      </p:sp>
      <p:pic>
        <p:nvPicPr>
          <p:cNvPr id="112" name="Picture 111" descr="architecture.png"/>
          <p:cNvPicPr>
            <a:picLocks noChangeAspect="1"/>
          </p:cNvPicPr>
          <p:nvPr/>
        </p:nvPicPr>
        <p:blipFill>
          <a:blip r:embed="rId5"/>
          <a:stretch>
            <a:fillRect/>
          </a:stretch>
        </p:blipFill>
        <p:spPr>
          <a:xfrm>
            <a:off x="320040" y="1234440"/>
            <a:ext cx="4910019" cy="3703319"/>
          </a:xfrm>
          <a:prstGeom prst="rect">
            <a:avLst/>
          </a:prstGeom>
        </p:spPr>
      </p:pic>
      <p:sp>
        <p:nvSpPr>
          <p:cNvPr id="113" name="TextBox 112"/>
          <p:cNvSpPr txBox="1"/>
          <p:nvPr/>
        </p:nvSpPr>
        <p:spPr>
          <a:xfrm>
            <a:off x="5458659" y="1280160"/>
            <a:ext cx="3365301" cy="3657600"/>
          </a:xfrm>
          <a:prstGeom prst="rect">
            <a:avLst/>
          </a:prstGeom>
          <a:noFill/>
        </p:spPr>
        <p:txBody>
          <a:bodyPr wrap="square" anchor="t" lIns="45720" rIns="45720">
            <a:spAutoFit/>
          </a:bodyPr>
          <a:lstStyle/>
          <a:p>
            <a:pPr algn="l">
              <a:spcAft>
                <a:spcPts val="400"/>
              </a:spcAft>
            </a:pPr>
            <a:r>
              <a:rPr sz="1300" b="1" i="0">
                <a:solidFill>
                  <a:srgbClr val="16202B"/>
                </a:solidFill>
                <a:latin typeface="Arial"/>
              </a:rPr>
              <a:t>One codebase, two banks</a:t>
            </a:r>
          </a:p>
          <a:p>
            <a:pPr algn="l">
              <a:spcAft>
                <a:spcPts val="400"/>
              </a:spcAft>
            </a:pPr>
            <a:r>
              <a:rPr sz="1000" b="0" i="0">
                <a:solidFill>
                  <a:srgbClr val="5B6774"/>
                </a:solidFill>
                <a:latin typeface="Arial"/>
              </a:rPr>
              <a:t>The same Cloud Run service is deployed as bank-a (payer hook) and bank-b (receiver band). Firestore is the only state; live listeners drive the phone and both consoles.</a:t>
            </a:r>
          </a:p>
          <a:p>
            <a:pPr algn="l">
              <a:spcAft>
                <a:spcPts val="400"/>
              </a:spcAft>
            </a:pPr>
            <a:r>
              <a:rPr sz="1300" b="1" i="0">
                <a:solidFill>
                  <a:srgbClr val="16202B"/>
                </a:solidFill>
                <a:latin typeface="Arial"/>
              </a:rPr>
              <a:t>Flow</a:t>
            </a:r>
          </a:p>
          <a:p>
            <a:pPr algn="l" marL="164592" indent="-164592">
              <a:spcAft>
                <a:spcPts val="400"/>
              </a:spcAft>
              <a:buChar char="•"/>
            </a:pPr>
            <a:r>
              <a:rPr sz="950" b="0" i="0">
                <a:solidFill>
                  <a:srgbClr val="16202B"/>
                </a:solidFill>
                <a:latin typeface="Arial"/>
              </a:rPr>
              <a:t>1  App sends pay request + device context</a:t>
            </a:r>
          </a:p>
          <a:p>
            <a:pPr algn="l" marL="164592" indent="-164592">
              <a:spcAft>
                <a:spcPts val="400"/>
              </a:spcAft>
              <a:buChar char="•"/>
            </a:pPr>
            <a:r>
              <a:rPr sz="950" b="0" i="0">
                <a:solidFill>
                  <a:srgbClr val="16202B"/>
                </a:solidFill>
                <a:latin typeface="Arial"/>
              </a:rPr>
              <a:t>2  Payment API validates the address with Bank B, gets the band</a:t>
            </a:r>
          </a:p>
          <a:p>
            <a:pPr algn="l" marL="164592" indent="-164592">
              <a:spcAft>
                <a:spcPts val="400"/>
              </a:spcAft>
              <a:buChar char="•"/>
            </a:pPr>
            <a:r>
              <a:rPr sz="950" b="0" i="0">
                <a:solidFill>
                  <a:srgbClr val="16202B"/>
                </a:solidFill>
                <a:latin typeface="Arial"/>
              </a:rPr>
              <a:t>3  Scorer joins history, fan-in, band, registry; Gemini names the script</a:t>
            </a:r>
          </a:p>
          <a:p>
            <a:pPr algn="l" marL="164592" indent="-164592">
              <a:spcAft>
                <a:spcPts val="400"/>
              </a:spcAft>
              <a:buChar char="•"/>
            </a:pPr>
            <a:r>
              <a:rPr sz="950" b="0" i="0">
                <a:solidFill>
                  <a:srgbClr val="16202B"/>
                </a:solidFill>
                <a:latin typeface="Arial"/>
              </a:rPr>
              <a:t>4  Medium and above: Gemini intervention agent, turns in Firestore</a:t>
            </a:r>
          </a:p>
          <a:p>
            <a:pPr algn="l" marL="164592" indent="-164592">
              <a:spcAft>
                <a:spcPts val="400"/>
              </a:spcAft>
              <a:buChar char="•"/>
            </a:pPr>
            <a:r>
              <a:rPr sz="950" b="0" i="0">
                <a:solidFill>
                  <a:srgbClr val="16202B"/>
                </a:solidFill>
                <a:latin typeface="Arial"/>
              </a:rPr>
              <a:t>5  Decision persists; ops console updates live</a:t>
            </a:r>
          </a:p>
          <a:p>
            <a:pPr algn="l" marL="164592" indent="-164592">
              <a:spcAft>
                <a:spcPts val="400"/>
              </a:spcAft>
              <a:buChar char="•"/>
            </a:pPr>
            <a:r>
              <a:rPr sz="950" b="0" i="0">
                <a:solidFill>
                  <a:srgbClr val="16202B"/>
                </a:solidFill>
                <a:latin typeface="Arial"/>
              </a:rPr>
              <a:t>6  Override: credit to Bank B, held if High band</a:t>
            </a:r>
          </a:p>
          <a:p>
            <a:pPr algn="l" marL="164592" indent="-164592">
              <a:spcAft>
                <a:spcPts val="400"/>
              </a:spcAft>
              <a:buChar char="•"/>
            </a:pPr>
            <a:r>
              <a:rPr sz="950" b="0" i="0">
                <a:solidFill>
                  <a:srgbClr val="16202B"/>
                </a:solidFill>
                <a:latin typeface="Arial"/>
              </a:rPr>
              <a:t>7  Outcomes labelled by ops feed back into the score</a:t>
            </a:r>
          </a:p>
          <a:p>
            <a:pPr algn="l">
              <a:spcAft>
                <a:spcPts val="400"/>
              </a:spcAft>
            </a:pPr>
            <a:r>
              <a:rPr sz="900" b="0" i="1">
                <a:solidFill>
                  <a:srgbClr val="5B6774"/>
                </a:solidFill>
                <a:latin typeface="Arial"/>
              </a:rPr>
              <a:t>Dashed boxes are simulated in the prototype: device signals (toggles), registry lookups, the NPCI leg, the trusted-contact call.</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used in the solution</a:t>
            </a:r>
            <a:endParaRPr sz="1600">
              <a:latin typeface="Google Sans Flex Medium"/>
              <a:ea typeface="Google Sans Flex Medium"/>
              <a:cs typeface="Google Sans Flex Medium"/>
              <a:sym typeface="Google Sans Flex Medium"/>
            </a:endParaRPr>
          </a:p>
        </p:txBody>
      </p:sp>
      <p:sp>
        <p:nvSpPr>
          <p:cNvPr id="120" name="Rounded Rectangle 119"/>
          <p:cNvSpPr/>
          <p:nvPr/>
        </p:nvSpPr>
        <p:spPr>
          <a:xfrm>
            <a:off x="320040" y="1325880"/>
            <a:ext cx="4160520" cy="822960"/>
          </a:xfrm>
          <a:prstGeom prst="roundRect">
            <a:avLst>
              <a:gd name="adj" fmla="val 6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429768" y="13807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Cloud Run</a:t>
            </a:r>
          </a:p>
        </p:txBody>
      </p:sp>
      <p:sp>
        <p:nvSpPr>
          <p:cNvPr id="122" name="TextBox 121"/>
          <p:cNvSpPr txBox="1"/>
          <p:nvPr/>
        </p:nvSpPr>
        <p:spPr>
          <a:xfrm>
            <a:off x="429768" y="16367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Both bank services from one container. Payment API, scorer, Gemini agent, address validation, credit hold. One minimum instance each, asia-south1.</a:t>
            </a:r>
          </a:p>
        </p:txBody>
      </p:sp>
      <p:sp>
        <p:nvSpPr>
          <p:cNvPr id="123" name="Rounded Rectangle 122"/>
          <p:cNvSpPr/>
          <p:nvPr/>
        </p:nvSpPr>
        <p:spPr>
          <a:xfrm>
            <a:off x="4663440" y="1325880"/>
            <a:ext cx="4160520" cy="822960"/>
          </a:xfrm>
          <a:prstGeom prst="roundRect">
            <a:avLst>
              <a:gd name="adj" fmla="val 6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Box 123"/>
          <p:cNvSpPr txBox="1"/>
          <p:nvPr/>
        </p:nvSpPr>
        <p:spPr>
          <a:xfrm>
            <a:off x="4773168" y="13807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Firestore</a:t>
            </a:r>
          </a:p>
        </p:txBody>
      </p:sp>
      <p:sp>
        <p:nvSpPr>
          <p:cNvPr id="125" name="TextBox 124"/>
          <p:cNvSpPr txBox="1"/>
          <p:nvPr/>
        </p:nvSpPr>
        <p:spPr>
          <a:xfrm>
            <a:off x="4773168" y="16367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Customers, 90-day history, receiver accounts, cases, holds, conversation turns. Composite indexes for the fan-in queries. Live listeners to every screen.</a:t>
            </a:r>
          </a:p>
        </p:txBody>
      </p:sp>
      <p:sp>
        <p:nvSpPr>
          <p:cNvPr id="126" name="Rounded Rectangle 125"/>
          <p:cNvSpPr/>
          <p:nvPr/>
        </p:nvSpPr>
        <p:spPr>
          <a:xfrm>
            <a:off x="320040" y="2240280"/>
            <a:ext cx="4160520" cy="822960"/>
          </a:xfrm>
          <a:prstGeom prst="roundRect">
            <a:avLst>
              <a:gd name="adj" fmla="val 6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429768" y="22951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Firebase Hosting + Auth</a:t>
            </a:r>
          </a:p>
        </p:txBody>
      </p:sp>
      <p:sp>
        <p:nvSpPr>
          <p:cNvPr id="128" name="TextBox 127"/>
          <p:cNvSpPr txBox="1"/>
          <p:nvPr/>
        </p:nvSpPr>
        <p:spPr>
          <a:xfrm>
            <a:off x="429768" y="25511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Mock bank app and two ops consoles as static sites. Anonymous auth gates Firestore reads; all writes come from Cloud Run.</a:t>
            </a:r>
          </a:p>
        </p:txBody>
      </p:sp>
      <p:sp>
        <p:nvSpPr>
          <p:cNvPr id="129" name="Rounded Rectangle 128"/>
          <p:cNvSpPr/>
          <p:nvPr/>
        </p:nvSpPr>
        <p:spPr>
          <a:xfrm>
            <a:off x="4663440" y="2240280"/>
            <a:ext cx="4160520" cy="822960"/>
          </a:xfrm>
          <a:prstGeom prst="roundRect">
            <a:avLst>
              <a:gd name="adj" fmla="val 6000"/>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4773168" y="22951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Gemini 2.5 Flash on Vertex AI</a:t>
            </a:r>
          </a:p>
        </p:txBody>
      </p:sp>
      <p:sp>
        <p:nvSpPr>
          <p:cNvPr id="131" name="TextBox 130"/>
          <p:cNvSpPr txBox="1"/>
          <p:nvPr/>
        </p:nvSpPr>
        <p:spPr>
          <a:xfrm>
            <a:off x="4773168" y="25511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Names the scam script from the signal pattern, runs the intervention turns with a per-script system prompt, writes the case summary. JSON-mode responses.</a:t>
            </a:r>
          </a:p>
        </p:txBody>
      </p:sp>
      <p:sp>
        <p:nvSpPr>
          <p:cNvPr id="132" name="Rounded Rectangle 131"/>
          <p:cNvSpPr/>
          <p:nvPr/>
        </p:nvSpPr>
        <p:spPr>
          <a:xfrm>
            <a:off x="320040" y="3154680"/>
            <a:ext cx="4160520" cy="822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429768" y="32095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FastAPI, Python 3.12, uv</a:t>
            </a:r>
          </a:p>
        </p:txBody>
      </p:sp>
      <p:sp>
        <p:nvSpPr>
          <p:cNvPr id="134" name="TextBox 133"/>
          <p:cNvSpPr txBox="1"/>
          <p:nvPr/>
        </p:nvSpPr>
        <p:spPr>
          <a:xfrm>
            <a:off x="429768" y="34655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Service code, weighted scoring model, receiver mule score, Firestore Admin SDK, httpx between banks.</a:t>
            </a:r>
          </a:p>
        </p:txBody>
      </p:sp>
      <p:sp>
        <p:nvSpPr>
          <p:cNvPr id="135" name="Rounded Rectangle 134"/>
          <p:cNvSpPr/>
          <p:nvPr/>
        </p:nvSpPr>
        <p:spPr>
          <a:xfrm>
            <a:off x="4663440" y="3154680"/>
            <a:ext cx="4160520" cy="822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4773168" y="32095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Firebase JS SDK 10</a:t>
            </a:r>
          </a:p>
        </p:txBody>
      </p:sp>
      <p:sp>
        <p:nvSpPr>
          <p:cNvPr id="137" name="TextBox 136"/>
          <p:cNvSpPr txBox="1"/>
          <p:nvPr/>
        </p:nvSpPr>
        <p:spPr>
          <a:xfrm>
            <a:off x="4773168" y="34655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Phone app and consoles in plain HTML/JS; onSnapshot listeners for cases, turns, accounts, holds, events.</a:t>
            </a:r>
          </a:p>
        </p:txBody>
      </p:sp>
      <p:sp>
        <p:nvSpPr>
          <p:cNvPr id="138" name="Rounded Rectangle 137"/>
          <p:cNvSpPr/>
          <p:nvPr/>
        </p:nvSpPr>
        <p:spPr>
          <a:xfrm>
            <a:off x="320040" y="4069080"/>
            <a:ext cx="4160520" cy="822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429768" y="41239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Cloud Build, Artifact Registry</a:t>
            </a:r>
          </a:p>
        </p:txBody>
      </p:sp>
      <p:sp>
        <p:nvSpPr>
          <p:cNvPr id="140" name="TextBox 139"/>
          <p:cNvSpPr txBox="1"/>
          <p:nvPr/>
        </p:nvSpPr>
        <p:spPr>
          <a:xfrm>
            <a:off x="429768" y="43799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Source-to-container deploys through gcloud run deploy --source.</a:t>
            </a:r>
          </a:p>
        </p:txBody>
      </p:sp>
      <p:sp>
        <p:nvSpPr>
          <p:cNvPr id="141" name="Rounded Rectangle 140"/>
          <p:cNvSpPr/>
          <p:nvPr/>
        </p:nvSpPr>
        <p:spPr>
          <a:xfrm>
            <a:off x="4663440" y="4069080"/>
            <a:ext cx="4160520" cy="82296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4773168" y="4123944"/>
            <a:ext cx="3941064" cy="274320"/>
          </a:xfrm>
          <a:prstGeom prst="rect">
            <a:avLst/>
          </a:prstGeom>
          <a:noFill/>
        </p:spPr>
        <p:txBody>
          <a:bodyPr wrap="square" anchor="t" lIns="18288" rIns="18288" tIns="18288" bIns="18288">
            <a:spAutoFit/>
          </a:bodyPr>
          <a:lstStyle/>
          <a:p>
            <a:pPr algn="l">
              <a:spcAft>
                <a:spcPts val="400"/>
              </a:spcAft>
            </a:pPr>
            <a:r>
              <a:rPr sz="1100" b="1" i="0">
                <a:solidFill>
                  <a:srgbClr val="16202B"/>
                </a:solidFill>
                <a:latin typeface="Arial"/>
              </a:rPr>
              <a:t>Planned</a:t>
            </a:r>
          </a:p>
        </p:txBody>
      </p:sp>
      <p:sp>
        <p:nvSpPr>
          <p:cNvPr id="143" name="TextBox 142"/>
          <p:cNvSpPr txBox="1"/>
          <p:nvPr/>
        </p:nvSpPr>
        <p:spPr>
          <a:xfrm>
            <a:off x="4773168" y="4379976"/>
            <a:ext cx="3941064" cy="475488"/>
          </a:xfrm>
          <a:prstGeom prst="rect">
            <a:avLst/>
          </a:prstGeom>
          <a:noFill/>
        </p:spPr>
        <p:txBody>
          <a:bodyPr wrap="square" anchor="t" lIns="18288" rIns="18288" tIns="18288" bIns="18288">
            <a:spAutoFit/>
          </a:bodyPr>
          <a:lstStyle/>
          <a:p>
            <a:pPr algn="l">
              <a:spcAft>
                <a:spcPts val="400"/>
              </a:spcAft>
            </a:pPr>
            <a:r>
              <a:rPr sz="880" b="0" i="0">
                <a:solidFill>
                  <a:srgbClr val="5B6774"/>
                </a:solidFill>
                <a:latin typeface="Arial"/>
              </a:rPr>
              <a:t>BigQuery analytics copy of history and outcomes, Pub/Sub event stream, Vertex AI Search over the scam-script corpus, trained model from labelled cases.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a:t>
            </a:r>
            <a:endParaRPr sz="1600">
              <a:latin typeface="Google Sans Flex Medium"/>
              <a:ea typeface="Google Sans Flex Medium"/>
              <a:cs typeface="Google Sans Flex Medium"/>
              <a:sym typeface="Google Sans Flex Medium"/>
            </a:endParaRPr>
          </a:p>
        </p:txBody>
      </p:sp>
      <p:sp>
        <p:nvSpPr>
          <p:cNvPr id="128" name="TextBox 127"/>
          <p:cNvSpPr txBox="1"/>
          <p:nvPr/>
        </p:nvSpPr>
        <p:spPr>
          <a:xfrm>
            <a:off x="320040" y="1325880"/>
            <a:ext cx="8503920" cy="365760"/>
          </a:xfrm>
          <a:prstGeom prst="rect">
            <a:avLst/>
          </a:prstGeom>
          <a:noFill/>
        </p:spPr>
        <p:txBody>
          <a:bodyPr wrap="square" anchor="t" lIns="45720" rIns="45720">
            <a:spAutoFit/>
          </a:bodyPr>
          <a:lstStyle/>
          <a:p>
            <a:pPr algn="l">
              <a:spcAft>
                <a:spcPts val="400"/>
              </a:spcAft>
            </a:pPr>
            <a:r>
              <a:rPr sz="1200" b="1" i="0">
                <a:solidFill>
                  <a:srgbClr val="16202B"/>
                </a:solidFill>
                <a:latin typeface="Arial"/>
              </a:rPr>
              <a:t>Prototype as deployed (per month, indicative, asia-south1 list prices)</a:t>
            </a:r>
          </a:p>
        </p:txBody>
      </p:sp>
      <p:sp>
        <p:nvSpPr>
          <p:cNvPr id="129" name="Rectangle 128"/>
          <p:cNvSpPr/>
          <p:nvPr/>
        </p:nvSpPr>
        <p:spPr>
          <a:xfrm>
            <a:off x="320040" y="1737360"/>
            <a:ext cx="5120640" cy="32918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Box 129"/>
          <p:cNvSpPr txBox="1"/>
          <p:nvPr/>
        </p:nvSpPr>
        <p:spPr>
          <a:xfrm>
            <a:off x="411480" y="1764792"/>
            <a:ext cx="3017520" cy="274320"/>
          </a:xfrm>
          <a:prstGeom prst="rect">
            <a:avLst/>
          </a:prstGeom>
          <a:noFill/>
        </p:spPr>
        <p:txBody>
          <a:bodyPr wrap="square" anchor="t" lIns="18288" rIns="18288" tIns="18288" bIns="18288">
            <a:spAutoFit/>
          </a:bodyPr>
          <a:lstStyle/>
          <a:p>
            <a:pPr algn="l">
              <a:spcAft>
                <a:spcPts val="400"/>
              </a:spcAft>
            </a:pPr>
            <a:r>
              <a:rPr sz="1000" b="0" i="0">
                <a:solidFill>
                  <a:srgbClr val="16202B"/>
                </a:solidFill>
                <a:latin typeface="Arial"/>
              </a:rPr>
              <a:t>Cloud Run, 2 services, 1 min instance each, 512 MB</a:t>
            </a:r>
          </a:p>
        </p:txBody>
      </p:sp>
      <p:sp>
        <p:nvSpPr>
          <p:cNvPr id="131" name="TextBox 130"/>
          <p:cNvSpPr txBox="1"/>
          <p:nvPr/>
        </p:nvSpPr>
        <p:spPr>
          <a:xfrm>
            <a:off x="3429000" y="1764792"/>
            <a:ext cx="1920240" cy="274320"/>
          </a:xfrm>
          <a:prstGeom prst="rect">
            <a:avLst/>
          </a:prstGeom>
          <a:noFill/>
        </p:spPr>
        <p:txBody>
          <a:bodyPr wrap="square" anchor="t" lIns="18288" rIns="18288" tIns="18288" bIns="18288">
            <a:spAutoFit/>
          </a:bodyPr>
          <a:lstStyle/>
          <a:p>
            <a:pPr algn="r">
              <a:spcAft>
                <a:spcPts val="400"/>
              </a:spcAft>
            </a:pPr>
            <a:r>
              <a:rPr sz="1000" b="0" i="0">
                <a:solidFill>
                  <a:srgbClr val="16202B"/>
                </a:solidFill>
                <a:latin typeface="Arial"/>
              </a:rPr>
              <a:t>~ $14 to $20</a:t>
            </a:r>
          </a:p>
        </p:txBody>
      </p:sp>
      <p:sp>
        <p:nvSpPr>
          <p:cNvPr id="132" name="Rectangle 131"/>
          <p:cNvSpPr/>
          <p:nvPr/>
        </p:nvSpPr>
        <p:spPr>
          <a:xfrm>
            <a:off x="320040" y="2066544"/>
            <a:ext cx="51206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411480" y="2093976"/>
            <a:ext cx="3017520" cy="274320"/>
          </a:xfrm>
          <a:prstGeom prst="rect">
            <a:avLst/>
          </a:prstGeom>
          <a:noFill/>
        </p:spPr>
        <p:txBody>
          <a:bodyPr wrap="square" anchor="t" lIns="18288" rIns="18288" tIns="18288" bIns="18288">
            <a:spAutoFit/>
          </a:bodyPr>
          <a:lstStyle/>
          <a:p>
            <a:pPr algn="l">
              <a:spcAft>
                <a:spcPts val="400"/>
              </a:spcAft>
            </a:pPr>
            <a:r>
              <a:rPr sz="1000" b="0" i="0">
                <a:solidFill>
                  <a:srgbClr val="16202B"/>
                </a:solidFill>
                <a:latin typeface="Arial"/>
              </a:rPr>
              <a:t>Firestore, demo-scale reads and writes</a:t>
            </a:r>
          </a:p>
        </p:txBody>
      </p:sp>
      <p:sp>
        <p:nvSpPr>
          <p:cNvPr id="134" name="TextBox 133"/>
          <p:cNvSpPr txBox="1"/>
          <p:nvPr/>
        </p:nvSpPr>
        <p:spPr>
          <a:xfrm>
            <a:off x="3429000" y="2093976"/>
            <a:ext cx="1920240" cy="274320"/>
          </a:xfrm>
          <a:prstGeom prst="rect">
            <a:avLst/>
          </a:prstGeom>
          <a:noFill/>
        </p:spPr>
        <p:txBody>
          <a:bodyPr wrap="square" anchor="t" lIns="18288" rIns="18288" tIns="18288" bIns="18288">
            <a:spAutoFit/>
          </a:bodyPr>
          <a:lstStyle/>
          <a:p>
            <a:pPr algn="r">
              <a:spcAft>
                <a:spcPts val="400"/>
              </a:spcAft>
            </a:pPr>
            <a:r>
              <a:rPr sz="1000" b="0" i="0">
                <a:solidFill>
                  <a:srgbClr val="16202B"/>
                </a:solidFill>
                <a:latin typeface="Arial"/>
              </a:rPr>
              <a:t>within free tier</a:t>
            </a:r>
          </a:p>
        </p:txBody>
      </p:sp>
      <p:sp>
        <p:nvSpPr>
          <p:cNvPr id="135" name="Rectangle 134"/>
          <p:cNvSpPr/>
          <p:nvPr/>
        </p:nvSpPr>
        <p:spPr>
          <a:xfrm>
            <a:off x="320040" y="2395728"/>
            <a:ext cx="5120640" cy="32918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Box 135"/>
          <p:cNvSpPr txBox="1"/>
          <p:nvPr/>
        </p:nvSpPr>
        <p:spPr>
          <a:xfrm>
            <a:off x="411480" y="2423160"/>
            <a:ext cx="3017520" cy="274320"/>
          </a:xfrm>
          <a:prstGeom prst="rect">
            <a:avLst/>
          </a:prstGeom>
          <a:noFill/>
        </p:spPr>
        <p:txBody>
          <a:bodyPr wrap="square" anchor="t" lIns="18288" rIns="18288" tIns="18288" bIns="18288">
            <a:spAutoFit/>
          </a:bodyPr>
          <a:lstStyle/>
          <a:p>
            <a:pPr algn="l">
              <a:spcAft>
                <a:spcPts val="400"/>
              </a:spcAft>
            </a:pPr>
            <a:r>
              <a:rPr sz="1000" b="0" i="0">
                <a:solidFill>
                  <a:srgbClr val="16202B"/>
                </a:solidFill>
                <a:latin typeface="Arial"/>
              </a:rPr>
              <a:t>Gemini 2.5 Flash, ~3 calls per flagged payment</a:t>
            </a:r>
          </a:p>
        </p:txBody>
      </p:sp>
      <p:sp>
        <p:nvSpPr>
          <p:cNvPr id="137" name="TextBox 136"/>
          <p:cNvSpPr txBox="1"/>
          <p:nvPr/>
        </p:nvSpPr>
        <p:spPr>
          <a:xfrm>
            <a:off x="3429000" y="2423160"/>
            <a:ext cx="1920240" cy="274320"/>
          </a:xfrm>
          <a:prstGeom prst="rect">
            <a:avLst/>
          </a:prstGeom>
          <a:noFill/>
        </p:spPr>
        <p:txBody>
          <a:bodyPr wrap="square" anchor="t" lIns="18288" rIns="18288" tIns="18288" bIns="18288">
            <a:spAutoFit/>
          </a:bodyPr>
          <a:lstStyle/>
          <a:p>
            <a:pPr algn="r">
              <a:spcAft>
                <a:spcPts val="400"/>
              </a:spcAft>
            </a:pPr>
            <a:r>
              <a:rPr sz="1000" b="0" i="0">
                <a:solidFill>
                  <a:srgbClr val="16202B"/>
                </a:solidFill>
                <a:latin typeface="Arial"/>
              </a:rPr>
              <a:t>~ $0.002 per intervention</a:t>
            </a:r>
          </a:p>
        </p:txBody>
      </p:sp>
      <p:sp>
        <p:nvSpPr>
          <p:cNvPr id="138" name="Rectangle 137"/>
          <p:cNvSpPr/>
          <p:nvPr/>
        </p:nvSpPr>
        <p:spPr>
          <a:xfrm>
            <a:off x="320040" y="2724912"/>
            <a:ext cx="51206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411480" y="2752344"/>
            <a:ext cx="3017520" cy="274320"/>
          </a:xfrm>
          <a:prstGeom prst="rect">
            <a:avLst/>
          </a:prstGeom>
          <a:noFill/>
        </p:spPr>
        <p:txBody>
          <a:bodyPr wrap="square" anchor="t" lIns="18288" rIns="18288" tIns="18288" bIns="18288">
            <a:spAutoFit/>
          </a:bodyPr>
          <a:lstStyle/>
          <a:p>
            <a:pPr algn="l">
              <a:spcAft>
                <a:spcPts val="400"/>
              </a:spcAft>
            </a:pPr>
            <a:r>
              <a:rPr sz="1000" b="0" i="0">
                <a:solidFill>
                  <a:srgbClr val="16202B"/>
                </a:solidFill>
                <a:latin typeface="Arial"/>
              </a:rPr>
              <a:t>Firebase Hosting and Auth</a:t>
            </a:r>
          </a:p>
        </p:txBody>
      </p:sp>
      <p:sp>
        <p:nvSpPr>
          <p:cNvPr id="140" name="TextBox 139"/>
          <p:cNvSpPr txBox="1"/>
          <p:nvPr/>
        </p:nvSpPr>
        <p:spPr>
          <a:xfrm>
            <a:off x="3429000" y="2752344"/>
            <a:ext cx="1920240" cy="274320"/>
          </a:xfrm>
          <a:prstGeom prst="rect">
            <a:avLst/>
          </a:prstGeom>
          <a:noFill/>
        </p:spPr>
        <p:txBody>
          <a:bodyPr wrap="square" anchor="t" lIns="18288" rIns="18288" tIns="18288" bIns="18288">
            <a:spAutoFit/>
          </a:bodyPr>
          <a:lstStyle/>
          <a:p>
            <a:pPr algn="r">
              <a:spcAft>
                <a:spcPts val="400"/>
              </a:spcAft>
            </a:pPr>
            <a:r>
              <a:rPr sz="1000" b="0" i="0">
                <a:solidFill>
                  <a:srgbClr val="16202B"/>
                </a:solidFill>
                <a:latin typeface="Arial"/>
              </a:rPr>
              <a:t>free tier</a:t>
            </a:r>
          </a:p>
        </p:txBody>
      </p:sp>
      <p:sp>
        <p:nvSpPr>
          <p:cNvPr id="141" name="Rectangle 140"/>
          <p:cNvSpPr/>
          <p:nvPr/>
        </p:nvSpPr>
        <p:spPr>
          <a:xfrm>
            <a:off x="320040" y="3054096"/>
            <a:ext cx="5120640" cy="329184"/>
          </a:xfrm>
          <a:prstGeom prst="rect">
            <a:avLst/>
          </a:prstGeom>
          <a:solidFill>
            <a:srgbClr val="FDF1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411480" y="3081528"/>
            <a:ext cx="3017520" cy="274320"/>
          </a:xfrm>
          <a:prstGeom prst="rect">
            <a:avLst/>
          </a:prstGeom>
          <a:noFill/>
        </p:spPr>
        <p:txBody>
          <a:bodyPr wrap="square" anchor="t" lIns="18288" rIns="18288" tIns="18288" bIns="18288">
            <a:spAutoFit/>
          </a:bodyPr>
          <a:lstStyle/>
          <a:p>
            <a:pPr algn="l">
              <a:spcAft>
                <a:spcPts val="400"/>
              </a:spcAft>
            </a:pPr>
            <a:r>
              <a:rPr sz="1000" b="1" i="0">
                <a:solidFill>
                  <a:srgbClr val="16202B"/>
                </a:solidFill>
                <a:latin typeface="Arial"/>
              </a:rPr>
              <a:t>Total</a:t>
            </a:r>
          </a:p>
        </p:txBody>
      </p:sp>
      <p:sp>
        <p:nvSpPr>
          <p:cNvPr id="143" name="TextBox 142"/>
          <p:cNvSpPr txBox="1"/>
          <p:nvPr/>
        </p:nvSpPr>
        <p:spPr>
          <a:xfrm>
            <a:off x="3429000" y="3081528"/>
            <a:ext cx="19202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 $15 to $25 per month</a:t>
            </a:r>
          </a:p>
        </p:txBody>
      </p:sp>
      <p:sp>
        <p:nvSpPr>
          <p:cNvPr id="144" name="TextBox 143"/>
          <p:cNvSpPr txBox="1"/>
          <p:nvPr/>
        </p:nvSpPr>
        <p:spPr>
          <a:xfrm>
            <a:off x="5669280" y="1325880"/>
            <a:ext cx="3154680" cy="3474720"/>
          </a:xfrm>
          <a:prstGeom prst="rect">
            <a:avLst/>
          </a:prstGeom>
          <a:noFill/>
        </p:spPr>
        <p:txBody>
          <a:bodyPr wrap="square" anchor="t" lIns="45720" rIns="45720">
            <a:spAutoFit/>
          </a:bodyPr>
          <a:lstStyle/>
          <a:p>
            <a:pPr algn="l">
              <a:spcAft>
                <a:spcPts val="600"/>
              </a:spcAft>
            </a:pPr>
            <a:r>
              <a:rPr sz="1200" b="1" i="0">
                <a:solidFill>
                  <a:srgbClr val="16202B"/>
                </a:solidFill>
                <a:latin typeface="Arial"/>
              </a:rPr>
              <a:t>At bank scale</a:t>
            </a:r>
          </a:p>
          <a:p>
            <a:pPr algn="l">
              <a:spcAft>
                <a:spcPts val="600"/>
              </a:spcAft>
            </a:pPr>
            <a:r>
              <a:rPr sz="1000" b="0" i="0">
                <a:solidFill>
                  <a:srgbClr val="5B6774"/>
                </a:solidFill>
                <a:latin typeface="Arial"/>
              </a:rPr>
              <a:t>Scoring is a few Firestore or BigQuery lookups per payment: compute cost is negligible against existing fraud-engine spend.</a:t>
            </a:r>
          </a:p>
          <a:p>
            <a:pPr algn="l">
              <a:spcAft>
                <a:spcPts val="600"/>
              </a:spcAft>
            </a:pPr>
            <a:r>
              <a:rPr sz="1000" b="0" i="0">
                <a:solidFill>
                  <a:srgbClr val="5B6774"/>
                </a:solidFill>
                <a:latin typeface="Arial"/>
              </a:rPr>
              <a:t>Gemini is called only for the small share of payments that reach medium tier or above. At 1 to 2 percent of volume and three calls per case, a bank doing 10 million UPI payments a month spends on the order of a few hundred dollars on the model.</a:t>
            </a:r>
          </a:p>
          <a:p>
            <a:pPr algn="l">
              <a:spcAft>
                <a:spcPts val="600"/>
              </a:spcAft>
            </a:pPr>
            <a:r>
              <a:rPr sz="1000" b="0" i="0">
                <a:solidFill>
                  <a:srgbClr val="5B6774"/>
                </a:solidFill>
                <a:latin typeface="Arial"/>
              </a:rPr>
              <a:t>The real cost is integration: the SDK in the bank's app, the hook in the payment switch, and the band field in address validation.</a:t>
            </a:r>
          </a:p>
          <a:p>
            <a:pPr algn="l">
              <a:spcAft>
                <a:spcPts val="600"/>
              </a:spcAft>
            </a:pPr>
            <a:r>
              <a:rPr sz="1000" b="0" i="1">
                <a:solidFill>
                  <a:srgbClr val="16202B"/>
                </a:solidFill>
                <a:latin typeface="Arial"/>
              </a:rPr>
              <a:t>Set against reimbursement liability for authorised push payment fraud, which the UK now splits between sending and receiving banks.</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sp>
        <p:nvSpPr>
          <p:cNvPr id="136" name="TextBox 135"/>
          <p:cNvSpPr txBox="1"/>
          <p:nvPr/>
        </p:nvSpPr>
        <p:spPr>
          <a:xfrm>
            <a:off x="320040" y="1280160"/>
            <a:ext cx="3931920" cy="201168"/>
          </a:xfrm>
          <a:prstGeom prst="rect">
            <a:avLst/>
          </a:prstGeom>
          <a:noFill/>
        </p:spPr>
        <p:txBody>
          <a:bodyPr wrap="square" anchor="t" lIns="18288" rIns="18288" tIns="18288" bIns="18288">
            <a:spAutoFit/>
          </a:bodyPr>
          <a:lstStyle/>
          <a:p>
            <a:pPr algn="l">
              <a:spcAft>
                <a:spcPts val="400"/>
              </a:spcAft>
            </a:pPr>
            <a:r>
              <a:rPr sz="900" b="1" i="0">
                <a:solidFill>
                  <a:srgbClr val="5B6774"/>
                </a:solidFill>
                <a:latin typeface="Arial"/>
              </a:rPr>
              <a:t>PHONE APP: PAYMENT PAUSED, GEMINI CONVERSATION, SIGNALS</a:t>
            </a:r>
          </a:p>
        </p:txBody>
      </p:sp>
      <p:pic>
        <p:nvPicPr>
          <p:cNvPr id="137" name="Picture 136" descr="crop-app.png"/>
          <p:cNvPicPr>
            <a:picLocks noChangeAspect="1"/>
          </p:cNvPicPr>
          <p:nvPr/>
        </p:nvPicPr>
        <p:blipFill>
          <a:blip r:embed="rId5"/>
          <a:stretch>
            <a:fillRect/>
          </a:stretch>
        </p:blipFill>
        <p:spPr>
          <a:xfrm>
            <a:off x="320040" y="1490472"/>
            <a:ext cx="3931920" cy="3000675"/>
          </a:xfrm>
          <a:prstGeom prst="rect">
            <a:avLst/>
          </a:prstGeom>
          <a:ln w="9525">
            <a:solidFill>
              <a:srgbClr val="D9DEE5"/>
            </a:solidFill>
          </a:ln>
        </p:spPr>
      </p:pic>
      <p:sp>
        <p:nvSpPr>
          <p:cNvPr id="138" name="TextBox 137"/>
          <p:cNvSpPr txBox="1"/>
          <p:nvPr/>
        </p:nvSpPr>
        <p:spPr>
          <a:xfrm>
            <a:off x="320040" y="4546011"/>
            <a:ext cx="3931920" cy="365760"/>
          </a:xfrm>
          <a:prstGeom prst="rect">
            <a:avLst/>
          </a:prstGeom>
          <a:noFill/>
        </p:spPr>
        <p:txBody>
          <a:bodyPr wrap="square" anchor="t" lIns="18288" rIns="18288" tIns="18288" bIns="18288">
            <a:spAutoFit/>
          </a:bodyPr>
          <a:lstStyle/>
          <a:p>
            <a:pPr algn="l">
              <a:spcAft>
                <a:spcPts val="400"/>
              </a:spcAft>
            </a:pPr>
            <a:r>
              <a:rPr sz="900" b="0" i="0">
                <a:solidFill>
                  <a:srgbClr val="16202B"/>
                </a:solidFill>
                <a:latin typeface="Arial"/>
              </a:rPr>
              <a:t>Live at fabled-ray-512016-k5.web.app. No login. Pick Digital arrest, tap Pay.</a:t>
            </a:r>
          </a:p>
        </p:txBody>
      </p:sp>
      <p:sp>
        <p:nvSpPr>
          <p:cNvPr id="139" name="TextBox 138"/>
          <p:cNvSpPr txBox="1"/>
          <p:nvPr/>
        </p:nvSpPr>
        <p:spPr>
          <a:xfrm>
            <a:off x="4434840" y="1280160"/>
            <a:ext cx="4389120" cy="201168"/>
          </a:xfrm>
          <a:prstGeom prst="rect">
            <a:avLst/>
          </a:prstGeom>
          <a:noFill/>
        </p:spPr>
        <p:txBody>
          <a:bodyPr wrap="square" anchor="t" lIns="18288" rIns="18288" tIns="18288" bIns="18288">
            <a:spAutoFit/>
          </a:bodyPr>
          <a:lstStyle/>
          <a:p>
            <a:pPr algn="l">
              <a:spcAft>
                <a:spcPts val="400"/>
              </a:spcAft>
            </a:pPr>
            <a:r>
              <a:rPr sz="900" b="1" i="0">
                <a:solidFill>
                  <a:srgbClr val="5B6774"/>
                </a:solidFill>
                <a:latin typeface="Arial"/>
              </a:rPr>
              <a:t>BANK A FRAUD CONSOLE: CASE, SIGNALS, TRANSCRIPT</a:t>
            </a:r>
          </a:p>
        </p:txBody>
      </p:sp>
      <p:pic>
        <p:nvPicPr>
          <p:cNvPr id="140" name="Picture 139" descr="crop-console-a.png"/>
          <p:cNvPicPr>
            <a:picLocks noChangeAspect="1"/>
          </p:cNvPicPr>
          <p:nvPr/>
        </p:nvPicPr>
        <p:blipFill>
          <a:blip r:embed="rId6"/>
          <a:stretch>
            <a:fillRect/>
          </a:stretch>
        </p:blipFill>
        <p:spPr>
          <a:xfrm>
            <a:off x="4434840" y="1490472"/>
            <a:ext cx="4389120" cy="1510747"/>
          </a:xfrm>
          <a:prstGeom prst="rect">
            <a:avLst/>
          </a:prstGeom>
          <a:ln w="9525">
            <a:solidFill>
              <a:srgbClr val="D9DEE5"/>
            </a:solidFill>
          </a:ln>
        </p:spPr>
      </p:pic>
      <p:sp>
        <p:nvSpPr>
          <p:cNvPr id="141" name="TextBox 140"/>
          <p:cNvSpPr txBox="1"/>
          <p:nvPr/>
        </p:nvSpPr>
        <p:spPr>
          <a:xfrm>
            <a:off x="4434840" y="3129235"/>
            <a:ext cx="4389120" cy="201168"/>
          </a:xfrm>
          <a:prstGeom prst="rect">
            <a:avLst/>
          </a:prstGeom>
          <a:noFill/>
        </p:spPr>
        <p:txBody>
          <a:bodyPr wrap="square" anchor="t" lIns="18288" rIns="18288" tIns="18288" bIns="18288">
            <a:spAutoFit/>
          </a:bodyPr>
          <a:lstStyle/>
          <a:p>
            <a:pPr algn="l">
              <a:spcAft>
                <a:spcPts val="400"/>
              </a:spcAft>
            </a:pPr>
            <a:r>
              <a:rPr sz="900" b="1" i="0">
                <a:solidFill>
                  <a:srgbClr val="5B6774"/>
                </a:solidFill>
                <a:latin typeface="Arial"/>
              </a:rPr>
              <a:t>BANK B RECEIVER CONSOLE: MULE BANDS, HELD CREDITS</a:t>
            </a:r>
          </a:p>
        </p:txBody>
      </p:sp>
      <p:pic>
        <p:nvPicPr>
          <p:cNvPr id="142" name="Picture 141" descr="crop-console-b.png"/>
          <p:cNvPicPr>
            <a:picLocks noChangeAspect="1"/>
          </p:cNvPicPr>
          <p:nvPr/>
        </p:nvPicPr>
        <p:blipFill>
          <a:blip r:embed="rId7"/>
          <a:stretch>
            <a:fillRect/>
          </a:stretch>
        </p:blipFill>
        <p:spPr>
          <a:xfrm>
            <a:off x="4434840" y="3339547"/>
            <a:ext cx="4389120" cy="1510747"/>
          </a:xfrm>
          <a:prstGeom prst="rect">
            <a:avLst/>
          </a:prstGeom>
          <a:ln w="9525">
            <a:solidFill>
              <a:srgbClr val="D9DEE5"/>
            </a:solid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a:t>
            </a:r>
            <a:endParaRPr sz="1600">
              <a:latin typeface="Google Sans Flex Medium"/>
              <a:ea typeface="Google Sans Flex Medium"/>
              <a:cs typeface="Google Sans Flex Medium"/>
              <a:sym typeface="Google Sans Flex Medium"/>
            </a:endParaRPr>
          </a:p>
        </p:txBody>
      </p:sp>
      <p:sp>
        <p:nvSpPr>
          <p:cNvPr id="144" name="TextBox 143"/>
          <p:cNvSpPr txBox="1"/>
          <p:nvPr/>
        </p:nvSpPr>
        <p:spPr>
          <a:xfrm>
            <a:off x="320040" y="1325880"/>
            <a:ext cx="4206240" cy="320040"/>
          </a:xfrm>
          <a:prstGeom prst="rect">
            <a:avLst/>
          </a:prstGeom>
          <a:noFill/>
        </p:spPr>
        <p:txBody>
          <a:bodyPr wrap="square" anchor="t" lIns="45720" rIns="45720">
            <a:spAutoFit/>
          </a:bodyPr>
          <a:lstStyle/>
          <a:p>
            <a:pPr algn="l">
              <a:spcAft>
                <a:spcPts val="400"/>
              </a:spcAft>
            </a:pPr>
            <a:r>
              <a:rPr sz="1150" b="1" i="0">
                <a:solidFill>
                  <a:srgbClr val="16202B"/>
                </a:solidFill>
                <a:latin typeface="Arial"/>
              </a:rPr>
              <a:t>Latency on the live deployment, 19 Oct 2026</a:t>
            </a:r>
          </a:p>
        </p:txBody>
      </p:sp>
      <p:sp>
        <p:nvSpPr>
          <p:cNvPr id="145" name="Rectangle 144"/>
          <p:cNvSpPr/>
          <p:nvPr/>
        </p:nvSpPr>
        <p:spPr>
          <a:xfrm>
            <a:off x="320040" y="1691640"/>
            <a:ext cx="4206240" cy="32918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Box 145"/>
          <p:cNvSpPr txBox="1"/>
          <p:nvPr/>
        </p:nvSpPr>
        <p:spPr>
          <a:xfrm>
            <a:off x="411480" y="1719072"/>
            <a:ext cx="3108960" cy="274320"/>
          </a:xfrm>
          <a:prstGeom prst="rect">
            <a:avLst/>
          </a:prstGeom>
          <a:noFill/>
        </p:spPr>
        <p:txBody>
          <a:bodyPr wrap="square" anchor="t" lIns="18288" rIns="18288" tIns="18288" bIns="18288">
            <a:spAutoFit/>
          </a:bodyPr>
          <a:lstStyle/>
          <a:p>
            <a:pPr algn="l">
              <a:spcAft>
                <a:spcPts val="400"/>
              </a:spcAft>
            </a:pPr>
            <a:r>
              <a:rPr sz="950" b="0" i="0">
                <a:solidFill>
                  <a:srgbClr val="16202B"/>
                </a:solidFill>
                <a:latin typeface="Arial"/>
              </a:rPr>
              <a:t>Service health check</a:t>
            </a:r>
          </a:p>
        </p:txBody>
      </p:sp>
      <p:sp>
        <p:nvSpPr>
          <p:cNvPr id="147" name="TextBox 146"/>
          <p:cNvSpPr txBox="1"/>
          <p:nvPr/>
        </p:nvSpPr>
        <p:spPr>
          <a:xfrm>
            <a:off x="3429000" y="1719072"/>
            <a:ext cx="1005840" cy="274320"/>
          </a:xfrm>
          <a:prstGeom prst="rect">
            <a:avLst/>
          </a:prstGeom>
          <a:noFill/>
        </p:spPr>
        <p:txBody>
          <a:bodyPr wrap="square" anchor="t" lIns="18288" rIns="18288" tIns="18288" bIns="18288">
            <a:spAutoFit/>
          </a:bodyPr>
          <a:lstStyle/>
          <a:p>
            <a:pPr algn="r">
              <a:spcAft>
                <a:spcPts val="400"/>
              </a:spcAft>
            </a:pPr>
            <a:r>
              <a:rPr sz="950" b="1" i="0">
                <a:solidFill>
                  <a:srgbClr val="16202B"/>
                </a:solidFill>
                <a:latin typeface="Arial"/>
              </a:rPr>
              <a:t>0.2 s</a:t>
            </a:r>
          </a:p>
        </p:txBody>
      </p:sp>
      <p:sp>
        <p:nvSpPr>
          <p:cNvPr id="148" name="Rectangle 147"/>
          <p:cNvSpPr/>
          <p:nvPr/>
        </p:nvSpPr>
        <p:spPr>
          <a:xfrm>
            <a:off x="320040" y="2020824"/>
            <a:ext cx="4206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411480" y="2048256"/>
            <a:ext cx="3108960" cy="274320"/>
          </a:xfrm>
          <a:prstGeom prst="rect">
            <a:avLst/>
          </a:prstGeom>
          <a:noFill/>
        </p:spPr>
        <p:txBody>
          <a:bodyPr wrap="square" anchor="t" lIns="18288" rIns="18288" tIns="18288" bIns="18288">
            <a:spAutoFit/>
          </a:bodyPr>
          <a:lstStyle/>
          <a:p>
            <a:pPr algn="l">
              <a:spcAft>
                <a:spcPts val="400"/>
              </a:spcAft>
            </a:pPr>
            <a:r>
              <a:rPr sz="950" b="0" i="0">
                <a:solidFill>
                  <a:srgbClr val="16202B"/>
                </a:solidFill>
                <a:latin typeface="Arial"/>
              </a:rPr>
              <a:t>Address validation, Bank A to Bank B, with band</a:t>
            </a:r>
          </a:p>
        </p:txBody>
      </p:sp>
      <p:sp>
        <p:nvSpPr>
          <p:cNvPr id="150" name="TextBox 149"/>
          <p:cNvSpPr txBox="1"/>
          <p:nvPr/>
        </p:nvSpPr>
        <p:spPr>
          <a:xfrm>
            <a:off x="3429000" y="2048256"/>
            <a:ext cx="1005840" cy="274320"/>
          </a:xfrm>
          <a:prstGeom prst="rect">
            <a:avLst/>
          </a:prstGeom>
          <a:noFill/>
        </p:spPr>
        <p:txBody>
          <a:bodyPr wrap="square" anchor="t" lIns="18288" rIns="18288" tIns="18288" bIns="18288">
            <a:spAutoFit/>
          </a:bodyPr>
          <a:lstStyle/>
          <a:p>
            <a:pPr algn="r">
              <a:spcAft>
                <a:spcPts val="400"/>
              </a:spcAft>
            </a:pPr>
            <a:r>
              <a:rPr sz="950" b="1" i="0">
                <a:solidFill>
                  <a:srgbClr val="16202B"/>
                </a:solidFill>
                <a:latin typeface="Arial"/>
              </a:rPr>
              <a:t>0.23 s</a:t>
            </a:r>
          </a:p>
        </p:txBody>
      </p:sp>
      <p:sp>
        <p:nvSpPr>
          <p:cNvPr id="151" name="Rectangle 150"/>
          <p:cNvSpPr/>
          <p:nvPr/>
        </p:nvSpPr>
        <p:spPr>
          <a:xfrm>
            <a:off x="320040" y="2350008"/>
            <a:ext cx="4206240" cy="32918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TextBox 151"/>
          <p:cNvSpPr txBox="1"/>
          <p:nvPr/>
        </p:nvSpPr>
        <p:spPr>
          <a:xfrm>
            <a:off x="411480" y="2377440"/>
            <a:ext cx="3108960" cy="274320"/>
          </a:xfrm>
          <a:prstGeom prst="rect">
            <a:avLst/>
          </a:prstGeom>
          <a:noFill/>
        </p:spPr>
        <p:txBody>
          <a:bodyPr wrap="square" anchor="t" lIns="18288" rIns="18288" tIns="18288" bIns="18288">
            <a:spAutoFit/>
          </a:bodyPr>
          <a:lstStyle/>
          <a:p>
            <a:pPr algn="l">
              <a:spcAft>
                <a:spcPts val="400"/>
              </a:spcAft>
            </a:pPr>
            <a:r>
              <a:rPr sz="950" b="0" i="0">
                <a:solidFill>
                  <a:srgbClr val="16202B"/>
                </a:solidFill>
                <a:latin typeface="Arial"/>
              </a:rPr>
              <a:t>Low-risk payment: score and allow (no model call)</a:t>
            </a:r>
          </a:p>
        </p:txBody>
      </p:sp>
      <p:sp>
        <p:nvSpPr>
          <p:cNvPr id="153" name="TextBox 152"/>
          <p:cNvSpPr txBox="1"/>
          <p:nvPr/>
        </p:nvSpPr>
        <p:spPr>
          <a:xfrm>
            <a:off x="3429000" y="2377440"/>
            <a:ext cx="1005840" cy="274320"/>
          </a:xfrm>
          <a:prstGeom prst="rect">
            <a:avLst/>
          </a:prstGeom>
          <a:noFill/>
        </p:spPr>
        <p:txBody>
          <a:bodyPr wrap="square" anchor="t" lIns="18288" rIns="18288" tIns="18288" bIns="18288">
            <a:spAutoFit/>
          </a:bodyPr>
          <a:lstStyle/>
          <a:p>
            <a:pPr algn="r">
              <a:spcAft>
                <a:spcPts val="400"/>
              </a:spcAft>
            </a:pPr>
            <a:r>
              <a:rPr sz="950" b="1" i="0">
                <a:solidFill>
                  <a:srgbClr val="16202B"/>
                </a:solidFill>
                <a:latin typeface="Arial"/>
              </a:rPr>
              <a:t>0.5 to 0.6 s</a:t>
            </a:r>
          </a:p>
        </p:txBody>
      </p:sp>
      <p:sp>
        <p:nvSpPr>
          <p:cNvPr id="154" name="Rectangle 153"/>
          <p:cNvSpPr/>
          <p:nvPr/>
        </p:nvSpPr>
        <p:spPr>
          <a:xfrm>
            <a:off x="320040" y="2679192"/>
            <a:ext cx="4206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411480" y="2706624"/>
            <a:ext cx="3108960" cy="274320"/>
          </a:xfrm>
          <a:prstGeom prst="rect">
            <a:avLst/>
          </a:prstGeom>
          <a:noFill/>
        </p:spPr>
        <p:txBody>
          <a:bodyPr wrap="square" anchor="t" lIns="18288" rIns="18288" tIns="18288" bIns="18288">
            <a:spAutoFit/>
          </a:bodyPr>
          <a:lstStyle/>
          <a:p>
            <a:pPr algn="l">
              <a:spcAft>
                <a:spcPts val="400"/>
              </a:spcAft>
            </a:pPr>
            <a:r>
              <a:rPr sz="950" b="0" i="0">
                <a:solidFill>
                  <a:srgbClr val="16202B"/>
                </a:solidFill>
                <a:latin typeface="Arial"/>
              </a:rPr>
              <a:t>Flagged payment: score, Gemini script classification, hold</a:t>
            </a:r>
          </a:p>
        </p:txBody>
      </p:sp>
      <p:sp>
        <p:nvSpPr>
          <p:cNvPr id="156" name="TextBox 155"/>
          <p:cNvSpPr txBox="1"/>
          <p:nvPr/>
        </p:nvSpPr>
        <p:spPr>
          <a:xfrm>
            <a:off x="3429000" y="2706624"/>
            <a:ext cx="1005840" cy="274320"/>
          </a:xfrm>
          <a:prstGeom prst="rect">
            <a:avLst/>
          </a:prstGeom>
          <a:noFill/>
        </p:spPr>
        <p:txBody>
          <a:bodyPr wrap="square" anchor="t" lIns="18288" rIns="18288" tIns="18288" bIns="18288">
            <a:spAutoFit/>
          </a:bodyPr>
          <a:lstStyle/>
          <a:p>
            <a:pPr algn="r">
              <a:spcAft>
                <a:spcPts val="400"/>
              </a:spcAft>
            </a:pPr>
            <a:r>
              <a:rPr sz="950" b="1" i="0">
                <a:solidFill>
                  <a:srgbClr val="16202B"/>
                </a:solidFill>
                <a:latin typeface="Arial"/>
              </a:rPr>
              <a:t>7.5 to 10 s</a:t>
            </a:r>
          </a:p>
        </p:txBody>
      </p:sp>
      <p:sp>
        <p:nvSpPr>
          <p:cNvPr id="157" name="Rectangle 156"/>
          <p:cNvSpPr/>
          <p:nvPr/>
        </p:nvSpPr>
        <p:spPr>
          <a:xfrm>
            <a:off x="320040" y="3008376"/>
            <a:ext cx="4206240" cy="32918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Box 157"/>
          <p:cNvSpPr txBox="1"/>
          <p:nvPr/>
        </p:nvSpPr>
        <p:spPr>
          <a:xfrm>
            <a:off x="411480" y="3035808"/>
            <a:ext cx="3108960" cy="274320"/>
          </a:xfrm>
          <a:prstGeom prst="rect">
            <a:avLst/>
          </a:prstGeom>
          <a:noFill/>
        </p:spPr>
        <p:txBody>
          <a:bodyPr wrap="square" anchor="t" lIns="18288" rIns="18288" tIns="18288" bIns="18288">
            <a:spAutoFit/>
          </a:bodyPr>
          <a:lstStyle/>
          <a:p>
            <a:pPr algn="l">
              <a:spcAft>
                <a:spcPts val="400"/>
              </a:spcAft>
            </a:pPr>
            <a:r>
              <a:rPr sz="950" b="0" i="0">
                <a:solidFill>
                  <a:srgbClr val="16202B"/>
                </a:solidFill>
                <a:latin typeface="Arial"/>
              </a:rPr>
              <a:t>Gemini conversation turn</a:t>
            </a:r>
          </a:p>
        </p:txBody>
      </p:sp>
      <p:sp>
        <p:nvSpPr>
          <p:cNvPr id="159" name="TextBox 158"/>
          <p:cNvSpPr txBox="1"/>
          <p:nvPr/>
        </p:nvSpPr>
        <p:spPr>
          <a:xfrm>
            <a:off x="3429000" y="3035808"/>
            <a:ext cx="1005840" cy="274320"/>
          </a:xfrm>
          <a:prstGeom prst="rect">
            <a:avLst/>
          </a:prstGeom>
          <a:noFill/>
        </p:spPr>
        <p:txBody>
          <a:bodyPr wrap="square" anchor="t" lIns="18288" rIns="18288" tIns="18288" bIns="18288">
            <a:spAutoFit/>
          </a:bodyPr>
          <a:lstStyle/>
          <a:p>
            <a:pPr algn="r">
              <a:spcAft>
                <a:spcPts val="400"/>
              </a:spcAft>
            </a:pPr>
            <a:r>
              <a:rPr sz="950" b="1" i="0">
                <a:solidFill>
                  <a:srgbClr val="16202B"/>
                </a:solidFill>
                <a:latin typeface="Arial"/>
              </a:rPr>
              <a:t>3 to 5 s</a:t>
            </a:r>
          </a:p>
        </p:txBody>
      </p:sp>
      <p:sp>
        <p:nvSpPr>
          <p:cNvPr id="160" name="Rectangle 159"/>
          <p:cNvSpPr/>
          <p:nvPr/>
        </p:nvSpPr>
        <p:spPr>
          <a:xfrm>
            <a:off x="320040" y="3337560"/>
            <a:ext cx="4206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411480" y="3364992"/>
            <a:ext cx="3108960" cy="274320"/>
          </a:xfrm>
          <a:prstGeom prst="rect">
            <a:avLst/>
          </a:prstGeom>
          <a:noFill/>
        </p:spPr>
        <p:txBody>
          <a:bodyPr wrap="square" anchor="t" lIns="18288" rIns="18288" tIns="18288" bIns="18288">
            <a:spAutoFit/>
          </a:bodyPr>
          <a:lstStyle/>
          <a:p>
            <a:pPr algn="l">
              <a:spcAft>
                <a:spcPts val="400"/>
              </a:spcAft>
            </a:pPr>
            <a:r>
              <a:rPr sz="950" b="0" i="0">
                <a:solidFill>
                  <a:srgbClr val="16202B"/>
                </a:solidFill>
                <a:latin typeface="Arial"/>
              </a:rPr>
              <a:t>Receiver credit hold at Bank B</a:t>
            </a:r>
          </a:p>
        </p:txBody>
      </p:sp>
      <p:sp>
        <p:nvSpPr>
          <p:cNvPr id="162" name="TextBox 161"/>
          <p:cNvSpPr txBox="1"/>
          <p:nvPr/>
        </p:nvSpPr>
        <p:spPr>
          <a:xfrm>
            <a:off x="3429000" y="3364992"/>
            <a:ext cx="1005840" cy="274320"/>
          </a:xfrm>
          <a:prstGeom prst="rect">
            <a:avLst/>
          </a:prstGeom>
          <a:noFill/>
        </p:spPr>
        <p:txBody>
          <a:bodyPr wrap="square" anchor="t" lIns="18288" rIns="18288" tIns="18288" bIns="18288">
            <a:spAutoFit/>
          </a:bodyPr>
          <a:lstStyle/>
          <a:p>
            <a:pPr algn="r">
              <a:spcAft>
                <a:spcPts val="400"/>
              </a:spcAft>
            </a:pPr>
            <a:r>
              <a:rPr sz="950" b="1" i="0">
                <a:solidFill>
                  <a:srgbClr val="16202B"/>
                </a:solidFill>
                <a:latin typeface="Arial"/>
              </a:rPr>
              <a:t>under 1 s</a:t>
            </a:r>
          </a:p>
        </p:txBody>
      </p:sp>
      <p:sp>
        <p:nvSpPr>
          <p:cNvPr id="163" name="TextBox 162"/>
          <p:cNvSpPr txBox="1"/>
          <p:nvPr/>
        </p:nvSpPr>
        <p:spPr>
          <a:xfrm>
            <a:off x="320040" y="3739896"/>
            <a:ext cx="4206240" cy="640080"/>
          </a:xfrm>
          <a:prstGeom prst="rect">
            <a:avLst/>
          </a:prstGeom>
          <a:noFill/>
        </p:spPr>
        <p:txBody>
          <a:bodyPr wrap="square" anchor="t" lIns="18288" rIns="18288" tIns="18288" bIns="18288">
            <a:spAutoFit/>
          </a:bodyPr>
          <a:lstStyle/>
          <a:p>
            <a:pPr algn="l">
              <a:spcAft>
                <a:spcPts val="400"/>
              </a:spcAft>
            </a:pPr>
            <a:r>
              <a:rPr sz="880" b="0" i="1">
                <a:solidFill>
                  <a:srgbClr val="5B6774"/>
                </a:solidFill>
                <a:latin typeface="Arial"/>
              </a:rPr>
              <a:t>Scoring itself is sub-second. The 7 to 10 s on flagged payments is the synchronous Gemini classification; the next revision returns the hold immediately on the rule-based script guess and lets Gemini refine it in the background.</a:t>
            </a:r>
          </a:p>
        </p:txBody>
      </p:sp>
      <p:sp>
        <p:nvSpPr>
          <p:cNvPr id="164" name="TextBox 163"/>
          <p:cNvSpPr txBox="1"/>
          <p:nvPr/>
        </p:nvSpPr>
        <p:spPr>
          <a:xfrm>
            <a:off x="4754880" y="1325880"/>
            <a:ext cx="4069080" cy="320040"/>
          </a:xfrm>
          <a:prstGeom prst="rect">
            <a:avLst/>
          </a:prstGeom>
          <a:noFill/>
        </p:spPr>
        <p:txBody>
          <a:bodyPr wrap="square" anchor="t" lIns="45720" rIns="45720">
            <a:spAutoFit/>
          </a:bodyPr>
          <a:lstStyle/>
          <a:p>
            <a:pPr algn="l">
              <a:spcAft>
                <a:spcPts val="400"/>
              </a:spcAft>
            </a:pPr>
            <a:r>
              <a:rPr sz="1150" b="1" i="0">
                <a:solidFill>
                  <a:srgbClr val="16202B"/>
                </a:solidFill>
                <a:latin typeface="Arial"/>
              </a:rPr>
              <a:t>Scoring outcomes on the seeded scenarios</a:t>
            </a:r>
          </a:p>
        </p:txBody>
      </p:sp>
      <p:sp>
        <p:nvSpPr>
          <p:cNvPr id="165" name="Rectangle 164"/>
          <p:cNvSpPr/>
          <p:nvPr/>
        </p:nvSpPr>
        <p:spPr>
          <a:xfrm>
            <a:off x="4754880" y="1691640"/>
            <a:ext cx="4069080" cy="3840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Box 165"/>
          <p:cNvSpPr txBox="1"/>
          <p:nvPr/>
        </p:nvSpPr>
        <p:spPr>
          <a:xfrm>
            <a:off x="4846320" y="1719072"/>
            <a:ext cx="2743200" cy="347472"/>
          </a:xfrm>
          <a:prstGeom prst="rect">
            <a:avLst/>
          </a:prstGeom>
          <a:noFill/>
        </p:spPr>
        <p:txBody>
          <a:bodyPr wrap="square" anchor="t" lIns="18288" rIns="18288" tIns="18288" bIns="18288">
            <a:spAutoFit/>
          </a:bodyPr>
          <a:lstStyle/>
          <a:p>
            <a:pPr algn="l">
              <a:spcAft>
                <a:spcPts val="400"/>
              </a:spcAft>
            </a:pPr>
            <a:r>
              <a:rPr sz="880" b="0" i="0">
                <a:solidFill>
                  <a:srgbClr val="16202B"/>
                </a:solidFill>
                <a:latin typeface="Arial"/>
              </a:rPr>
              <a:t>Sunita, digital arrest, ₹2,40,000 to a new payee on a 23-min call</a:t>
            </a:r>
          </a:p>
        </p:txBody>
      </p:sp>
      <p:sp>
        <p:nvSpPr>
          <p:cNvPr id="167" name="TextBox 166"/>
          <p:cNvSpPr txBox="1"/>
          <p:nvPr/>
        </p:nvSpPr>
        <p:spPr>
          <a:xfrm>
            <a:off x="7589520" y="1746504"/>
            <a:ext cx="5486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0.909</a:t>
            </a:r>
          </a:p>
        </p:txBody>
      </p:sp>
      <p:sp>
        <p:nvSpPr>
          <p:cNvPr id="168" name="TextBox 167"/>
          <p:cNvSpPr txBox="1"/>
          <p:nvPr/>
        </p:nvSpPr>
        <p:spPr>
          <a:xfrm>
            <a:off x="8183880" y="1746504"/>
            <a:ext cx="594360" cy="274320"/>
          </a:xfrm>
          <a:prstGeom prst="rect">
            <a:avLst/>
          </a:prstGeom>
          <a:noFill/>
        </p:spPr>
        <p:txBody>
          <a:bodyPr wrap="square" anchor="t" lIns="18288" rIns="18288" tIns="18288" bIns="18288">
            <a:spAutoFit/>
          </a:bodyPr>
          <a:lstStyle/>
          <a:p>
            <a:pPr algn="r">
              <a:spcAft>
                <a:spcPts val="400"/>
              </a:spcAft>
            </a:pPr>
            <a:r>
              <a:rPr sz="900" b="1" i="0">
                <a:solidFill>
                  <a:srgbClr val="B45309"/>
                </a:solidFill>
                <a:latin typeface="Arial"/>
              </a:rPr>
              <a:t>high</a:t>
            </a:r>
          </a:p>
        </p:txBody>
      </p:sp>
      <p:sp>
        <p:nvSpPr>
          <p:cNvPr id="169" name="Rectangle 168"/>
          <p:cNvSpPr/>
          <p:nvPr/>
        </p:nvSpPr>
        <p:spPr>
          <a:xfrm>
            <a:off x="4754880" y="2075688"/>
            <a:ext cx="4069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TextBox 169"/>
          <p:cNvSpPr txBox="1"/>
          <p:nvPr/>
        </p:nvSpPr>
        <p:spPr>
          <a:xfrm>
            <a:off x="4846320" y="2103120"/>
            <a:ext cx="2743200" cy="347472"/>
          </a:xfrm>
          <a:prstGeom prst="rect">
            <a:avLst/>
          </a:prstGeom>
          <a:noFill/>
        </p:spPr>
        <p:txBody>
          <a:bodyPr wrap="square" anchor="t" lIns="18288" rIns="18288" tIns="18288" bIns="18288">
            <a:spAutoFit/>
          </a:bodyPr>
          <a:lstStyle/>
          <a:p>
            <a:pPr algn="l">
              <a:spcAft>
                <a:spcPts val="400"/>
              </a:spcAft>
            </a:pPr>
            <a:r>
              <a:rPr sz="880" b="0" i="0">
                <a:solidFill>
                  <a:srgbClr val="16202B"/>
                </a:solidFill>
                <a:latin typeface="Arial"/>
              </a:rPr>
              <a:t>Sunita, ₹2,400 to her regular milk vendor</a:t>
            </a:r>
          </a:p>
        </p:txBody>
      </p:sp>
      <p:sp>
        <p:nvSpPr>
          <p:cNvPr id="171" name="TextBox 170"/>
          <p:cNvSpPr txBox="1"/>
          <p:nvPr/>
        </p:nvSpPr>
        <p:spPr>
          <a:xfrm>
            <a:off x="7589520" y="2130552"/>
            <a:ext cx="5486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0.178</a:t>
            </a:r>
          </a:p>
        </p:txBody>
      </p:sp>
      <p:sp>
        <p:nvSpPr>
          <p:cNvPr id="172" name="TextBox 171"/>
          <p:cNvSpPr txBox="1"/>
          <p:nvPr/>
        </p:nvSpPr>
        <p:spPr>
          <a:xfrm>
            <a:off x="8183880" y="2130552"/>
            <a:ext cx="594360" cy="274320"/>
          </a:xfrm>
          <a:prstGeom prst="rect">
            <a:avLst/>
          </a:prstGeom>
          <a:noFill/>
        </p:spPr>
        <p:txBody>
          <a:bodyPr wrap="square" anchor="t" lIns="18288" rIns="18288" tIns="18288" bIns="18288">
            <a:spAutoFit/>
          </a:bodyPr>
          <a:lstStyle/>
          <a:p>
            <a:pPr algn="r">
              <a:spcAft>
                <a:spcPts val="400"/>
              </a:spcAft>
            </a:pPr>
            <a:r>
              <a:rPr sz="900" b="1" i="0">
                <a:solidFill>
                  <a:srgbClr val="15803D"/>
                </a:solidFill>
                <a:latin typeface="Arial"/>
              </a:rPr>
              <a:t>low</a:t>
            </a:r>
          </a:p>
        </p:txBody>
      </p:sp>
      <p:sp>
        <p:nvSpPr>
          <p:cNvPr id="173" name="Rectangle 172"/>
          <p:cNvSpPr/>
          <p:nvPr/>
        </p:nvSpPr>
        <p:spPr>
          <a:xfrm>
            <a:off x="4754880" y="2459736"/>
            <a:ext cx="4069080" cy="3840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Box 173"/>
          <p:cNvSpPr txBox="1"/>
          <p:nvPr/>
        </p:nvSpPr>
        <p:spPr>
          <a:xfrm>
            <a:off x="4846320" y="2487168"/>
            <a:ext cx="2743200" cy="347472"/>
          </a:xfrm>
          <a:prstGeom prst="rect">
            <a:avLst/>
          </a:prstGeom>
          <a:noFill/>
        </p:spPr>
        <p:txBody>
          <a:bodyPr wrap="square" anchor="t" lIns="18288" rIns="18288" tIns="18288" bIns="18288">
            <a:spAutoFit/>
          </a:bodyPr>
          <a:lstStyle/>
          <a:p>
            <a:pPr algn="l">
              <a:spcAft>
                <a:spcPts val="400"/>
              </a:spcAft>
            </a:pPr>
            <a:r>
              <a:rPr sz="880" b="0" i="0">
                <a:solidFill>
                  <a:srgbClr val="16202B"/>
                </a:solidFill>
                <a:latin typeface="Arial"/>
              </a:rPr>
              <a:t>New payee, 3x her usual amount, no call</a:t>
            </a:r>
          </a:p>
        </p:txBody>
      </p:sp>
      <p:sp>
        <p:nvSpPr>
          <p:cNvPr id="175" name="TextBox 174"/>
          <p:cNvSpPr txBox="1"/>
          <p:nvPr/>
        </p:nvSpPr>
        <p:spPr>
          <a:xfrm>
            <a:off x="7589520" y="2514600"/>
            <a:ext cx="5486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0.386</a:t>
            </a:r>
          </a:p>
        </p:txBody>
      </p:sp>
      <p:sp>
        <p:nvSpPr>
          <p:cNvPr id="176" name="TextBox 175"/>
          <p:cNvSpPr txBox="1"/>
          <p:nvPr/>
        </p:nvSpPr>
        <p:spPr>
          <a:xfrm>
            <a:off x="8183880" y="2514600"/>
            <a:ext cx="594360" cy="274320"/>
          </a:xfrm>
          <a:prstGeom prst="rect">
            <a:avLst/>
          </a:prstGeom>
          <a:noFill/>
        </p:spPr>
        <p:txBody>
          <a:bodyPr wrap="square" anchor="t" lIns="18288" rIns="18288" tIns="18288" bIns="18288">
            <a:spAutoFit/>
          </a:bodyPr>
          <a:lstStyle/>
          <a:p>
            <a:pPr algn="r">
              <a:spcAft>
                <a:spcPts val="400"/>
              </a:spcAft>
            </a:pPr>
            <a:r>
              <a:rPr sz="900" b="1" i="0">
                <a:solidFill>
                  <a:srgbClr val="B45309"/>
                </a:solidFill>
                <a:latin typeface="Arial"/>
              </a:rPr>
              <a:t>medium</a:t>
            </a:r>
          </a:p>
        </p:txBody>
      </p:sp>
      <p:sp>
        <p:nvSpPr>
          <p:cNvPr id="177" name="Rectangle 176"/>
          <p:cNvSpPr/>
          <p:nvPr/>
        </p:nvSpPr>
        <p:spPr>
          <a:xfrm>
            <a:off x="4754880" y="2843784"/>
            <a:ext cx="4069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Box 177"/>
          <p:cNvSpPr txBox="1"/>
          <p:nvPr/>
        </p:nvSpPr>
        <p:spPr>
          <a:xfrm>
            <a:off x="4846320" y="2871216"/>
            <a:ext cx="2743200" cy="347472"/>
          </a:xfrm>
          <a:prstGeom prst="rect">
            <a:avLst/>
          </a:prstGeom>
          <a:noFill/>
        </p:spPr>
        <p:txBody>
          <a:bodyPr wrap="square" anchor="t" lIns="18288" rIns="18288" tIns="18288" bIns="18288">
            <a:spAutoFit/>
          </a:bodyPr>
          <a:lstStyle/>
          <a:p>
            <a:pPr algn="l">
              <a:spcAft>
                <a:spcPts val="400"/>
              </a:spcAft>
            </a:pPr>
            <a:r>
              <a:rPr sz="880" b="0" i="0">
                <a:solidFill>
                  <a:srgbClr val="16202B"/>
                </a:solidFill>
                <a:latin typeface="Arial"/>
              </a:rPr>
              <a:t>Bank B: Rakesh Kumar, 9 days old, 12 first-time inflows, 18-min sweep</a:t>
            </a:r>
          </a:p>
        </p:txBody>
      </p:sp>
      <p:sp>
        <p:nvSpPr>
          <p:cNvPr id="179" name="TextBox 178"/>
          <p:cNvSpPr txBox="1"/>
          <p:nvPr/>
        </p:nvSpPr>
        <p:spPr>
          <a:xfrm>
            <a:off x="7589520" y="2898648"/>
            <a:ext cx="5486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0.917</a:t>
            </a:r>
          </a:p>
        </p:txBody>
      </p:sp>
      <p:sp>
        <p:nvSpPr>
          <p:cNvPr id="180" name="TextBox 179"/>
          <p:cNvSpPr txBox="1"/>
          <p:nvPr/>
        </p:nvSpPr>
        <p:spPr>
          <a:xfrm>
            <a:off x="8183880" y="2898648"/>
            <a:ext cx="594360" cy="274320"/>
          </a:xfrm>
          <a:prstGeom prst="rect">
            <a:avLst/>
          </a:prstGeom>
          <a:noFill/>
        </p:spPr>
        <p:txBody>
          <a:bodyPr wrap="square" anchor="t" lIns="18288" rIns="18288" tIns="18288" bIns="18288">
            <a:spAutoFit/>
          </a:bodyPr>
          <a:lstStyle/>
          <a:p>
            <a:pPr algn="r">
              <a:spcAft>
                <a:spcPts val="400"/>
              </a:spcAft>
            </a:pPr>
            <a:r>
              <a:rPr sz="900" b="1" i="0">
                <a:solidFill>
                  <a:srgbClr val="B91C1C"/>
                </a:solidFill>
                <a:latin typeface="Arial"/>
              </a:rPr>
              <a:t>High</a:t>
            </a:r>
          </a:p>
        </p:txBody>
      </p:sp>
      <p:sp>
        <p:nvSpPr>
          <p:cNvPr id="181" name="Rectangle 180"/>
          <p:cNvSpPr/>
          <p:nvPr/>
        </p:nvSpPr>
        <p:spPr>
          <a:xfrm>
            <a:off x="4754880" y="3227832"/>
            <a:ext cx="4069080" cy="38404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TextBox 181"/>
          <p:cNvSpPr txBox="1"/>
          <p:nvPr/>
        </p:nvSpPr>
        <p:spPr>
          <a:xfrm>
            <a:off x="4846320" y="3255264"/>
            <a:ext cx="2743200" cy="347472"/>
          </a:xfrm>
          <a:prstGeom prst="rect">
            <a:avLst/>
          </a:prstGeom>
          <a:noFill/>
        </p:spPr>
        <p:txBody>
          <a:bodyPr wrap="square" anchor="t" lIns="18288" rIns="18288" tIns="18288" bIns="18288">
            <a:spAutoFit/>
          </a:bodyPr>
          <a:lstStyle/>
          <a:p>
            <a:pPr algn="l">
              <a:spcAft>
                <a:spcPts val="400"/>
              </a:spcAft>
            </a:pPr>
            <a:r>
              <a:rPr sz="880" b="0" i="0">
                <a:solidFill>
                  <a:srgbClr val="16202B"/>
                </a:solidFill>
                <a:latin typeface="Arial"/>
              </a:rPr>
              <a:t>Bank B: Pune Dairy, 6 years old, full KYC</a:t>
            </a:r>
          </a:p>
        </p:txBody>
      </p:sp>
      <p:sp>
        <p:nvSpPr>
          <p:cNvPr id="183" name="TextBox 182"/>
          <p:cNvSpPr txBox="1"/>
          <p:nvPr/>
        </p:nvSpPr>
        <p:spPr>
          <a:xfrm>
            <a:off x="7589520" y="3282696"/>
            <a:ext cx="5486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0.054</a:t>
            </a:r>
          </a:p>
        </p:txBody>
      </p:sp>
      <p:sp>
        <p:nvSpPr>
          <p:cNvPr id="184" name="TextBox 183"/>
          <p:cNvSpPr txBox="1"/>
          <p:nvPr/>
        </p:nvSpPr>
        <p:spPr>
          <a:xfrm>
            <a:off x="8183880" y="3282696"/>
            <a:ext cx="594360" cy="274320"/>
          </a:xfrm>
          <a:prstGeom prst="rect">
            <a:avLst/>
          </a:prstGeom>
          <a:noFill/>
        </p:spPr>
        <p:txBody>
          <a:bodyPr wrap="square" anchor="t" lIns="18288" rIns="18288" tIns="18288" bIns="18288">
            <a:spAutoFit/>
          </a:bodyPr>
          <a:lstStyle/>
          <a:p>
            <a:pPr algn="r">
              <a:spcAft>
                <a:spcPts val="400"/>
              </a:spcAft>
            </a:pPr>
            <a:r>
              <a:rPr sz="900" b="1" i="0">
                <a:solidFill>
                  <a:srgbClr val="15803D"/>
                </a:solidFill>
                <a:latin typeface="Arial"/>
              </a:rPr>
              <a:t>Low</a:t>
            </a:r>
          </a:p>
        </p:txBody>
      </p:sp>
      <p:sp>
        <p:nvSpPr>
          <p:cNvPr id="185" name="Rectangle 184"/>
          <p:cNvSpPr/>
          <p:nvPr/>
        </p:nvSpPr>
        <p:spPr>
          <a:xfrm>
            <a:off x="4754880" y="3611880"/>
            <a:ext cx="4069080"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Box 185"/>
          <p:cNvSpPr txBox="1"/>
          <p:nvPr/>
        </p:nvSpPr>
        <p:spPr>
          <a:xfrm>
            <a:off x="4846320" y="3639312"/>
            <a:ext cx="2743200" cy="347472"/>
          </a:xfrm>
          <a:prstGeom prst="rect">
            <a:avLst/>
          </a:prstGeom>
          <a:noFill/>
        </p:spPr>
        <p:txBody>
          <a:bodyPr wrap="square" anchor="t" lIns="18288" rIns="18288" tIns="18288" bIns="18288">
            <a:spAutoFit/>
          </a:bodyPr>
          <a:lstStyle/>
          <a:p>
            <a:pPr algn="l">
              <a:spcAft>
                <a:spcPts val="400"/>
              </a:spcAft>
            </a:pPr>
            <a:r>
              <a:rPr sz="880" b="0" i="0">
                <a:solidFill>
                  <a:srgbClr val="16202B"/>
                </a:solidFill>
                <a:latin typeface="Arial"/>
              </a:rPr>
              <a:t>Bank B: Meera Traders, 20 days old, 5 first-time inflows</a:t>
            </a:r>
          </a:p>
        </p:txBody>
      </p:sp>
      <p:sp>
        <p:nvSpPr>
          <p:cNvPr id="187" name="TextBox 186"/>
          <p:cNvSpPr txBox="1"/>
          <p:nvPr/>
        </p:nvSpPr>
        <p:spPr>
          <a:xfrm>
            <a:off x="7589520" y="3666744"/>
            <a:ext cx="548640" cy="274320"/>
          </a:xfrm>
          <a:prstGeom prst="rect">
            <a:avLst/>
          </a:prstGeom>
          <a:noFill/>
        </p:spPr>
        <p:txBody>
          <a:bodyPr wrap="square" anchor="t" lIns="18288" rIns="18288" tIns="18288" bIns="18288">
            <a:spAutoFit/>
          </a:bodyPr>
          <a:lstStyle/>
          <a:p>
            <a:pPr algn="r">
              <a:spcAft>
                <a:spcPts val="400"/>
              </a:spcAft>
            </a:pPr>
            <a:r>
              <a:rPr sz="1000" b="1" i="0">
                <a:solidFill>
                  <a:srgbClr val="16202B"/>
                </a:solidFill>
                <a:latin typeface="Arial"/>
              </a:rPr>
              <a:t>0.442</a:t>
            </a:r>
          </a:p>
        </p:txBody>
      </p:sp>
      <p:sp>
        <p:nvSpPr>
          <p:cNvPr id="188" name="TextBox 187"/>
          <p:cNvSpPr txBox="1"/>
          <p:nvPr/>
        </p:nvSpPr>
        <p:spPr>
          <a:xfrm>
            <a:off x="8183880" y="3666744"/>
            <a:ext cx="594360" cy="274320"/>
          </a:xfrm>
          <a:prstGeom prst="rect">
            <a:avLst/>
          </a:prstGeom>
          <a:noFill/>
        </p:spPr>
        <p:txBody>
          <a:bodyPr wrap="square" anchor="t" lIns="18288" rIns="18288" tIns="18288" bIns="18288">
            <a:spAutoFit/>
          </a:bodyPr>
          <a:lstStyle/>
          <a:p>
            <a:pPr algn="r">
              <a:spcAft>
                <a:spcPts val="400"/>
              </a:spcAft>
            </a:pPr>
            <a:r>
              <a:rPr sz="900" b="1" i="0">
                <a:solidFill>
                  <a:srgbClr val="B45309"/>
                </a:solidFill>
                <a:latin typeface="Arial"/>
              </a:rPr>
              <a:t>Elevated</a:t>
            </a:r>
          </a:p>
        </p:txBody>
      </p:sp>
      <p:sp>
        <p:nvSpPr>
          <p:cNvPr id="189" name="TextBox 188"/>
          <p:cNvSpPr txBox="1"/>
          <p:nvPr/>
        </p:nvSpPr>
        <p:spPr>
          <a:xfrm>
            <a:off x="4754880" y="4069080"/>
            <a:ext cx="4069080" cy="548640"/>
          </a:xfrm>
          <a:prstGeom prst="rect">
            <a:avLst/>
          </a:prstGeom>
          <a:noFill/>
        </p:spPr>
        <p:txBody>
          <a:bodyPr wrap="square" anchor="t" lIns="18288" rIns="18288" tIns="18288" bIns="18288">
            <a:spAutoFit/>
          </a:bodyPr>
          <a:lstStyle/>
          <a:p>
            <a:pPr algn="l">
              <a:spcAft>
                <a:spcPts val="400"/>
              </a:spcAft>
            </a:pPr>
            <a:r>
              <a:rPr sz="880" b="0" i="1">
                <a:solidFill>
                  <a:srgbClr val="5B6774"/>
                </a:solidFill>
                <a:latin typeface="Arial"/>
              </a:rPr>
              <a:t>Gemini named the script correctly in every live run (digital arrest, confidence 0.95) and produced valid JSON turns and summaries; stub fallbacks never triggered.</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Future development</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320040" y="132588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457200" y="143560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Real device signals</a:t>
            </a:r>
          </a:p>
        </p:txBody>
      </p:sp>
      <p:sp>
        <p:nvSpPr>
          <p:cNvPr id="154" name="TextBox 153"/>
          <p:cNvSpPr txBox="1"/>
          <p:nvPr/>
        </p:nvSpPr>
        <p:spPr>
          <a:xfrm>
            <a:off x="457200" y="176479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Android SDK reading call state, recently installed remote-access apps and payee age, replacing the demo toggles.</a:t>
            </a:r>
          </a:p>
        </p:txBody>
      </p:sp>
      <p:sp>
        <p:nvSpPr>
          <p:cNvPr id="155" name="Rounded Rectangle 154"/>
          <p:cNvSpPr/>
          <p:nvPr/>
        </p:nvSpPr>
        <p:spPr>
          <a:xfrm>
            <a:off x="3200400" y="132588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3337560" y="143560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Learned model</a:t>
            </a:r>
          </a:p>
        </p:txBody>
      </p:sp>
      <p:sp>
        <p:nvSpPr>
          <p:cNvPr id="157" name="TextBox 156"/>
          <p:cNvSpPr txBox="1"/>
          <p:nvPr/>
        </p:nvSpPr>
        <p:spPr>
          <a:xfrm>
            <a:off x="3337560" y="176479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Train the coercion score on labelled case outcomes from the ops console; BigQuery as the analytics store, Pub/Sub for the event stream.</a:t>
            </a:r>
          </a:p>
        </p:txBody>
      </p:sp>
      <p:sp>
        <p:nvSpPr>
          <p:cNvPr id="158" name="Rounded Rectangle 157"/>
          <p:cNvSpPr/>
          <p:nvPr/>
        </p:nvSpPr>
        <p:spPr>
          <a:xfrm>
            <a:off x="6080760" y="132588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6217920" y="143560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Shared registries</a:t>
            </a:r>
          </a:p>
        </p:txBody>
      </p:sp>
      <p:sp>
        <p:nvSpPr>
          <p:cNvPr id="160" name="TextBox 159"/>
          <p:cNvSpPr txBox="1"/>
          <p:nvPr/>
        </p:nvSpPr>
        <p:spPr>
          <a:xfrm>
            <a:off x="6217920" y="176479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Live lookups to the I4C Suspect Registry and the DoT Financial Fraud Risk Indicator; file I4C reports automatically.</a:t>
            </a:r>
          </a:p>
        </p:txBody>
      </p:sp>
      <p:sp>
        <p:nvSpPr>
          <p:cNvPr id="161" name="Rounded Rectangle 160"/>
          <p:cNvSpPr/>
          <p:nvPr/>
        </p:nvSpPr>
        <p:spPr>
          <a:xfrm>
            <a:off x="320040" y="306324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Box 161"/>
          <p:cNvSpPr txBox="1"/>
          <p:nvPr/>
        </p:nvSpPr>
        <p:spPr>
          <a:xfrm>
            <a:off x="457200" y="317296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Receiver band on the rails</a:t>
            </a:r>
          </a:p>
        </p:txBody>
      </p:sp>
      <p:sp>
        <p:nvSpPr>
          <p:cNvPr id="163" name="TextBox 162"/>
          <p:cNvSpPr txBox="1"/>
          <p:nvPr/>
        </p:nvSpPr>
        <p:spPr>
          <a:xfrm>
            <a:off x="457200" y="350215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Propose the risk-band field for the UPI address-validation response so any bank pair can exchange it.</a:t>
            </a:r>
          </a:p>
        </p:txBody>
      </p:sp>
      <p:sp>
        <p:nvSpPr>
          <p:cNvPr id="164" name="Rounded Rectangle 163"/>
          <p:cNvSpPr/>
          <p:nvPr/>
        </p:nvSpPr>
        <p:spPr>
          <a:xfrm>
            <a:off x="3200400" y="306324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Box 164"/>
          <p:cNvSpPr txBox="1"/>
          <p:nvPr/>
        </p:nvSpPr>
        <p:spPr>
          <a:xfrm>
            <a:off x="3337560" y="317296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Languages and voice</a:t>
            </a:r>
          </a:p>
        </p:txBody>
      </p:sp>
      <p:sp>
        <p:nvSpPr>
          <p:cNvPr id="166" name="TextBox 165"/>
          <p:cNvSpPr txBox="1"/>
          <p:nvPr/>
        </p:nvSpPr>
        <p:spPr>
          <a:xfrm>
            <a:off x="3337560" y="350215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Hindi and Marathi turns; a spoken intervention for customers who cannot read under pressure.</a:t>
            </a:r>
          </a:p>
        </p:txBody>
      </p:sp>
      <p:sp>
        <p:nvSpPr>
          <p:cNvPr id="167" name="Rounded Rectangle 166"/>
          <p:cNvSpPr/>
          <p:nvPr/>
        </p:nvSpPr>
        <p:spPr>
          <a:xfrm>
            <a:off x="6080760" y="3063240"/>
            <a:ext cx="2743200" cy="160020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Box 167"/>
          <p:cNvSpPr txBox="1"/>
          <p:nvPr/>
        </p:nvSpPr>
        <p:spPr>
          <a:xfrm>
            <a:off x="6217920" y="3172968"/>
            <a:ext cx="2468880" cy="320040"/>
          </a:xfrm>
          <a:prstGeom prst="rect">
            <a:avLst/>
          </a:prstGeom>
          <a:noFill/>
        </p:spPr>
        <p:txBody>
          <a:bodyPr wrap="square" anchor="t" lIns="18288" rIns="18288" tIns="18288" bIns="18288">
            <a:spAutoFit/>
          </a:bodyPr>
          <a:lstStyle/>
          <a:p>
            <a:pPr algn="l">
              <a:spcAft>
                <a:spcPts val="400"/>
              </a:spcAft>
            </a:pPr>
            <a:r>
              <a:rPr sz="1250" b="1" i="0">
                <a:solidFill>
                  <a:srgbClr val="16202B"/>
                </a:solidFill>
                <a:latin typeface="Arial"/>
              </a:rPr>
              <a:t>Script corpus</a:t>
            </a:r>
          </a:p>
        </p:txBody>
      </p:sp>
      <p:sp>
        <p:nvSpPr>
          <p:cNvPr id="169" name="TextBox 168"/>
          <p:cNvSpPr txBox="1"/>
          <p:nvPr/>
        </p:nvSpPr>
        <p:spPr>
          <a:xfrm>
            <a:off x="6217920" y="3502152"/>
            <a:ext cx="2468880" cy="1106424"/>
          </a:xfrm>
          <a:prstGeom prst="rect">
            <a:avLst/>
          </a:prstGeom>
          <a:noFill/>
        </p:spPr>
        <p:txBody>
          <a:bodyPr wrap="square" anchor="t" lIns="18288" rIns="18288" tIns="18288" bIns="18288">
            <a:spAutoFit/>
          </a:bodyPr>
          <a:lstStyle/>
          <a:p>
            <a:pPr algn="l">
              <a:spcAft>
                <a:spcPts val="300"/>
              </a:spcAft>
            </a:pPr>
            <a:r>
              <a:rPr sz="1000" b="0" i="0">
                <a:solidFill>
                  <a:srgbClr val="16202B"/>
                </a:solidFill>
                <a:latin typeface="Arial"/>
              </a:rPr>
              <a:t>Vertex AI Search over fresh scam scripts and RBI advisories, so the agent learns new patterns without a redeploy.</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Links</a:t>
            </a:r>
            <a:endParaRPr sz="1600">
              <a:latin typeface="Google Sans Flex Medium"/>
              <a:ea typeface="Google Sans Flex Medium"/>
              <a:cs typeface="Google Sans Flex Medium"/>
              <a:sym typeface="Google Sans Flex Medium"/>
            </a:endParaRPr>
          </a:p>
        </p:txBody>
      </p:sp>
      <p:sp>
        <p:nvSpPr>
          <p:cNvPr id="160" name="Rounded Rectangle 159"/>
          <p:cNvSpPr/>
          <p:nvPr/>
        </p:nvSpPr>
        <p:spPr>
          <a:xfrm>
            <a:off x="320040" y="1508760"/>
            <a:ext cx="8503920" cy="777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extBox 160"/>
          <p:cNvSpPr txBox="1"/>
          <p:nvPr/>
        </p:nvSpPr>
        <p:spPr>
          <a:xfrm>
            <a:off x="502920" y="1600200"/>
            <a:ext cx="8138160" cy="274320"/>
          </a:xfrm>
          <a:prstGeom prst="rect">
            <a:avLst/>
          </a:prstGeom>
          <a:noFill/>
        </p:spPr>
        <p:txBody>
          <a:bodyPr wrap="square" anchor="t" lIns="18288" rIns="18288" tIns="18288" bIns="18288">
            <a:spAutoFit/>
          </a:bodyPr>
          <a:lstStyle/>
          <a:p>
            <a:pPr algn="l">
              <a:spcAft>
                <a:spcPts val="400"/>
              </a:spcAft>
            </a:pPr>
            <a:r>
              <a:rPr sz="1200" b="1" i="0">
                <a:solidFill>
                  <a:srgbClr val="16202B"/>
                </a:solidFill>
                <a:latin typeface="Arial"/>
              </a:rPr>
              <a:t>GitHub public repository</a:t>
            </a:r>
          </a:p>
        </p:txBody>
      </p:sp>
      <p:sp>
        <p:nvSpPr>
          <p:cNvPr id="162" name="TextBox 161"/>
          <p:cNvSpPr txBox="1"/>
          <p:nvPr/>
        </p:nvSpPr>
        <p:spPr>
          <a:xfrm>
            <a:off x="502920" y="1892808"/>
            <a:ext cx="8138160" cy="320040"/>
          </a:xfrm>
          <a:prstGeom prst="rect">
            <a:avLst/>
          </a:prstGeom>
          <a:noFill/>
        </p:spPr>
        <p:txBody>
          <a:bodyPr wrap="square" anchor="t" lIns="18288" rIns="18288" tIns="18288" bIns="18288">
            <a:spAutoFit/>
          </a:bodyPr>
          <a:lstStyle/>
          <a:p>
            <a:pPr algn="l">
              <a:spcAft>
                <a:spcPts val="400"/>
              </a:spcAft>
            </a:pPr>
            <a:r>
              <a:rPr sz="1200" b="0" i="0">
                <a:solidFill>
                  <a:srgbClr val="B45309"/>
                </a:solidFill>
                <a:latin typeface="Arial"/>
              </a:rPr>
              <a:t>https://github.com/R-I-T-I-K/second-voice</a:t>
            </a:r>
          </a:p>
        </p:txBody>
      </p:sp>
      <p:sp>
        <p:nvSpPr>
          <p:cNvPr id="163" name="Rounded Rectangle 162"/>
          <p:cNvSpPr/>
          <p:nvPr/>
        </p:nvSpPr>
        <p:spPr>
          <a:xfrm>
            <a:off x="320040" y="2423160"/>
            <a:ext cx="8503920" cy="777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TextBox 163"/>
          <p:cNvSpPr txBox="1"/>
          <p:nvPr/>
        </p:nvSpPr>
        <p:spPr>
          <a:xfrm>
            <a:off x="502920" y="2514600"/>
            <a:ext cx="8138160" cy="274320"/>
          </a:xfrm>
          <a:prstGeom prst="rect">
            <a:avLst/>
          </a:prstGeom>
          <a:noFill/>
        </p:spPr>
        <p:txBody>
          <a:bodyPr wrap="square" anchor="t" lIns="18288" rIns="18288" tIns="18288" bIns="18288">
            <a:spAutoFit/>
          </a:bodyPr>
          <a:lstStyle/>
          <a:p>
            <a:pPr algn="l">
              <a:spcAft>
                <a:spcPts val="400"/>
              </a:spcAft>
            </a:pPr>
            <a:r>
              <a:rPr sz="1200" b="1" i="0">
                <a:solidFill>
                  <a:srgbClr val="16202B"/>
                </a:solidFill>
                <a:latin typeface="Arial"/>
              </a:rPr>
              <a:t>Demo video (3 to 4 minutes)</a:t>
            </a:r>
          </a:p>
        </p:txBody>
      </p:sp>
      <p:sp>
        <p:nvSpPr>
          <p:cNvPr id="165" name="TextBox 164"/>
          <p:cNvSpPr txBox="1"/>
          <p:nvPr/>
        </p:nvSpPr>
        <p:spPr>
          <a:xfrm>
            <a:off x="502920" y="2807208"/>
            <a:ext cx="8138160" cy="320040"/>
          </a:xfrm>
          <a:prstGeom prst="rect">
            <a:avLst/>
          </a:prstGeom>
          <a:noFill/>
        </p:spPr>
        <p:txBody>
          <a:bodyPr wrap="square" anchor="t" lIns="18288" rIns="18288" tIns="18288" bIns="18288">
            <a:spAutoFit/>
          </a:bodyPr>
          <a:lstStyle/>
          <a:p>
            <a:pPr algn="l">
              <a:spcAft>
                <a:spcPts val="400"/>
              </a:spcAft>
            </a:pPr>
            <a:r>
              <a:rPr sz="1200" b="0" i="0">
                <a:solidFill>
                  <a:srgbClr val="B45309"/>
                </a:solidFill>
                <a:latin typeface="Arial"/>
              </a:rPr>
              <a:t>Demo video link: to be added after upload</a:t>
            </a:r>
          </a:p>
        </p:txBody>
      </p:sp>
      <p:sp>
        <p:nvSpPr>
          <p:cNvPr id="166" name="Rounded Rectangle 165"/>
          <p:cNvSpPr/>
          <p:nvPr/>
        </p:nvSpPr>
        <p:spPr>
          <a:xfrm>
            <a:off x="320040" y="3337560"/>
            <a:ext cx="8503920" cy="777240"/>
          </a:xfrm>
          <a:prstGeom prst="roundRect">
            <a:avLst>
              <a:gd name="adj" fmla="val 6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extBox 166"/>
          <p:cNvSpPr txBox="1"/>
          <p:nvPr/>
        </p:nvSpPr>
        <p:spPr>
          <a:xfrm>
            <a:off x="502920" y="3429000"/>
            <a:ext cx="8138160" cy="274320"/>
          </a:xfrm>
          <a:prstGeom prst="rect">
            <a:avLst/>
          </a:prstGeom>
          <a:noFill/>
        </p:spPr>
        <p:txBody>
          <a:bodyPr wrap="square" anchor="t" lIns="18288" rIns="18288" tIns="18288" bIns="18288">
            <a:spAutoFit/>
          </a:bodyPr>
          <a:lstStyle/>
          <a:p>
            <a:pPr algn="l">
              <a:spcAft>
                <a:spcPts val="400"/>
              </a:spcAft>
            </a:pPr>
            <a:r>
              <a:rPr sz="1200" b="1" i="0">
                <a:solidFill>
                  <a:srgbClr val="16202B"/>
                </a:solidFill>
                <a:latin typeface="Arial"/>
              </a:rPr>
              <a:t>Final product link</a:t>
            </a:r>
          </a:p>
        </p:txBody>
      </p:sp>
      <p:sp>
        <p:nvSpPr>
          <p:cNvPr id="168" name="TextBox 167"/>
          <p:cNvSpPr txBox="1"/>
          <p:nvPr/>
        </p:nvSpPr>
        <p:spPr>
          <a:xfrm>
            <a:off x="502920" y="3721608"/>
            <a:ext cx="8138160" cy="320040"/>
          </a:xfrm>
          <a:prstGeom prst="rect">
            <a:avLst/>
          </a:prstGeom>
          <a:noFill/>
        </p:spPr>
        <p:txBody>
          <a:bodyPr wrap="square" anchor="t" lIns="18288" rIns="18288" tIns="18288" bIns="18288">
            <a:spAutoFit/>
          </a:bodyPr>
          <a:lstStyle/>
          <a:p>
            <a:pPr algn="l">
              <a:spcAft>
                <a:spcPts val="400"/>
              </a:spcAft>
            </a:pPr>
            <a:r>
              <a:rPr sz="1200" b="0" i="0">
                <a:solidFill>
                  <a:srgbClr val="B45309"/>
                </a:solidFill>
                <a:latin typeface="Arial"/>
              </a:rPr>
              <a:t>https://fabled-ray-512016-k5.web.app/</a:t>
            </a:r>
          </a:p>
        </p:txBody>
      </p:sp>
      <p:sp>
        <p:nvSpPr>
          <p:cNvPr id="169" name="TextBox 168"/>
          <p:cNvSpPr txBox="1"/>
          <p:nvPr/>
        </p:nvSpPr>
        <p:spPr>
          <a:xfrm>
            <a:off x="320040" y="4343400"/>
            <a:ext cx="8503920" cy="457200"/>
          </a:xfrm>
          <a:prstGeom prst="rect">
            <a:avLst/>
          </a:prstGeom>
          <a:noFill/>
        </p:spPr>
        <p:txBody>
          <a:bodyPr wrap="square" anchor="t" lIns="45720" rIns="45720">
            <a:spAutoFit/>
          </a:bodyPr>
          <a:lstStyle/>
          <a:p>
            <a:pPr algn="l">
              <a:spcAft>
                <a:spcPts val="400"/>
              </a:spcAft>
            </a:pPr>
            <a:r>
              <a:rPr sz="1000" b="0" i="0">
                <a:solidFill>
                  <a:srgbClr val="5B6774"/>
                </a:solidFill>
                <a:latin typeface="Arial"/>
              </a:rPr>
              <a:t>The product link needs no login. Open the Digital arrest scenario and tap Pay; the two consoles update live in other tabs.</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